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0541DB-7869-4A1C-861F-B3ABCF851FC5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FF843-7C95-4EDF-AA6A-09ABA1D4F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8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FF843-7C95-4EDF-AA6A-09ABA1D4F7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02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AADC3-2F6A-0021-55D9-09A126B63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23676-BFA5-1F1E-87E1-03B75D20A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974683-778F-7971-B4EC-CB9324DDC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CBC38-C8DF-BF8F-34D5-BAA0A06DC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FF843-7C95-4EDF-AA6A-09ABA1D4F7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23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09106-74F6-237A-F8E0-2221C57B3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5FF9B-8DB2-1D51-E578-F08BB5D61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E65E2-FF78-D543-CFBF-CB1A9B7B5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EA28A-7B22-39F8-DF88-514102838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FF843-7C95-4EDF-AA6A-09ABA1D4F7C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967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356A6-045E-C19C-F7A6-ECBB7A806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AF036-7C3F-90F1-C63F-E7FFBAD38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6D7EB-4514-3924-C86C-FB90EC0E4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7A51E-B754-3961-FF8A-C1F02FDAB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FF843-7C95-4EDF-AA6A-09ABA1D4F7C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31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0B692-981C-2C59-815D-DC5C006A5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EC58D7-B521-6F21-BCEB-433A704A8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45489-DABE-24D3-98A1-9D2485B14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F9220-CC99-2377-67E7-C0545C6A5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FF843-7C95-4EDF-AA6A-09ABA1D4F7C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49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3C9D2-8162-4EC4-B3A6-1BF7935E5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8CE89-B542-E5D8-72E1-E1E52AC34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85D03-4803-7711-06EB-5335A0A42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885F9-F3FB-2A6B-27F6-4B8DA36C3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FF843-7C95-4EDF-AA6A-09ABA1D4F7C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2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7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253"/>
            <a:ext cx="1219200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918" y="102217"/>
            <a:ext cx="2254749" cy="37284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795" y="2577405"/>
            <a:ext cx="1065609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571" y="2577405"/>
            <a:ext cx="1046559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7071" y="2577405"/>
            <a:ext cx="970359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43" y="3200400"/>
            <a:ext cx="232911" cy="215618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352425"/>
            <a:ext cx="493396" cy="4933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66204" y="390525"/>
            <a:ext cx="295244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SHIELD INSURANCE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8100" y="1924050"/>
            <a:ext cx="1143000" cy="377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₹989M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8106" y="2339280"/>
            <a:ext cx="104283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64748B"/>
                </a:solidFill>
                <a:latin typeface="Plus Jakarta Sans"/>
              </a:rPr>
              <a:t>TOTAL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2926" y="1924050"/>
            <a:ext cx="1085850" cy="377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26,841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5741" y="2339280"/>
            <a:ext cx="128021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64748B"/>
                </a:solidFill>
                <a:latin typeface="Plus Jakarta Sans"/>
              </a:rPr>
              <a:t>TOTAL</a:t>
            </a:r>
            <a:r>
              <a:rPr lang="en-US" sz="1200" b="1" dirty="0">
                <a:solidFill>
                  <a:srgbClr val="64748B"/>
                </a:solidFill>
                <a:latin typeface="Plus Jakarta Sans"/>
              </a:rPr>
              <a:t> CUSTOMERS</a:t>
            </a:r>
            <a:endParaRPr sz="1200" b="1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02650" y="1924050"/>
            <a:ext cx="1219200" cy="377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₹5.47M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4569" y="2339280"/>
            <a:ext cx="99521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64748B"/>
                </a:solidFill>
                <a:latin typeface="Plus Jakarta Sans"/>
              </a:rPr>
              <a:t>DAILY REVENUE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689" y="3162246"/>
            <a:ext cx="11008965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Space Grotesk"/>
              </a:rPr>
              <a:t>KEY BUSINESS TAKEAWAYS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725" y="3396555"/>
            <a:ext cx="887149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736AA9F-AC30-DE42-FC34-28CCFEF33BB9}"/>
              </a:ext>
            </a:extLst>
          </p:cNvPr>
          <p:cNvSpPr/>
          <p:nvPr/>
        </p:nvSpPr>
        <p:spPr>
          <a:xfrm>
            <a:off x="466725" y="1047751"/>
            <a:ext cx="11258550" cy="561974"/>
          </a:xfrm>
          <a:prstGeom prst="roundRect">
            <a:avLst/>
          </a:prstGeom>
        </p:spPr>
        <p:style>
          <a:lnRef idx="1">
            <a:schemeClr val="accent1"/>
          </a:lnRef>
          <a:fillRef idx="1001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0DA2B1-C4E2-1BB3-22B0-8C2AD70EF333}"/>
              </a:ext>
            </a:extLst>
          </p:cNvPr>
          <p:cNvSpPr txBox="1"/>
          <p:nvPr/>
        </p:nvSpPr>
        <p:spPr>
          <a:xfrm>
            <a:off x="666750" y="1170385"/>
            <a:ext cx="1068950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8FAFC"/>
                </a:solidFill>
                <a:latin typeface="Plus Jakarta Sans SemiBold"/>
              </a:rPr>
              <a:t>Strong overall growth, with business concentrated in Delhi NCR and the 26–35 segment while sales mix shifts toward digital.</a:t>
            </a:r>
          </a:p>
          <a:p>
            <a:endParaRPr lang="en-US" dirty="0"/>
          </a:p>
        </p:txBody>
      </p:sp>
      <p:sp>
        <p:nvSpPr>
          <p:cNvPr id="51" name="Rounded Rectangle 4">
            <a:extLst>
              <a:ext uri="{FF2B5EF4-FFF2-40B4-BE49-F238E27FC236}">
                <a16:creationId xmlns:a16="http://schemas.microsoft.com/office/drawing/2014/main" id="{D2CE2969-09B7-3ED3-3B08-B629A975F0AB}"/>
              </a:ext>
            </a:extLst>
          </p:cNvPr>
          <p:cNvSpPr/>
          <p:nvPr/>
        </p:nvSpPr>
        <p:spPr>
          <a:xfrm>
            <a:off x="731520" y="1828800"/>
            <a:ext cx="3328416" cy="1188720"/>
          </a:xfrm>
          <a:prstGeom prst="roundRect">
            <a:avLst/>
          </a:prstGeom>
          <a:noFill/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8">
            <a:extLst>
              <a:ext uri="{FF2B5EF4-FFF2-40B4-BE49-F238E27FC236}">
                <a16:creationId xmlns:a16="http://schemas.microsoft.com/office/drawing/2014/main" id="{B062B4A3-8FC3-C2F9-6775-C50449F997F2}"/>
              </a:ext>
            </a:extLst>
          </p:cNvPr>
          <p:cNvSpPr/>
          <p:nvPr/>
        </p:nvSpPr>
        <p:spPr>
          <a:xfrm>
            <a:off x="4416552" y="1828800"/>
            <a:ext cx="3328416" cy="1188720"/>
          </a:xfrm>
          <a:prstGeom prst="roundRect">
            <a:avLst/>
          </a:prstGeom>
          <a:noFill/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12">
            <a:extLst>
              <a:ext uri="{FF2B5EF4-FFF2-40B4-BE49-F238E27FC236}">
                <a16:creationId xmlns:a16="http://schemas.microsoft.com/office/drawing/2014/main" id="{43F80E78-1C3F-E4F5-D4BF-D90C8D5DD5F2}"/>
              </a:ext>
            </a:extLst>
          </p:cNvPr>
          <p:cNvSpPr/>
          <p:nvPr/>
        </p:nvSpPr>
        <p:spPr>
          <a:xfrm>
            <a:off x="8101584" y="1828800"/>
            <a:ext cx="3328416" cy="1188720"/>
          </a:xfrm>
          <a:prstGeom prst="roundRect">
            <a:avLst/>
          </a:prstGeom>
          <a:noFill/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49CD4B2-2AFE-82EE-DF03-10BF82994927}"/>
              </a:ext>
            </a:extLst>
          </p:cNvPr>
          <p:cNvSpPr/>
          <p:nvPr/>
        </p:nvSpPr>
        <p:spPr>
          <a:xfrm>
            <a:off x="960120" y="3598371"/>
            <a:ext cx="365760" cy="36576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76355A-8C86-4E20-B682-84457D8659E3}"/>
              </a:ext>
            </a:extLst>
          </p:cNvPr>
          <p:cNvSpPr txBox="1"/>
          <p:nvPr/>
        </p:nvSpPr>
        <p:spPr>
          <a:xfrm>
            <a:off x="1325880" y="3637818"/>
            <a:ext cx="62238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  <a:latin typeface="Arial"/>
              </a:defRPr>
            </a:pPr>
            <a:r>
              <a:rPr lang="en-US" sz="1400" dirty="0"/>
              <a:t>SALES MIX IS SHIFTING TOWARD DIGITAL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1DDC17-F8C3-68F3-C4E6-7499255D8930}"/>
              </a:ext>
            </a:extLst>
          </p:cNvPr>
          <p:cNvSpPr txBox="1"/>
          <p:nvPr/>
        </p:nvSpPr>
        <p:spPr>
          <a:xfrm>
            <a:off x="1290255" y="3925620"/>
            <a:ext cx="83309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</a:defRPr>
            </a:pPr>
            <a:r>
              <a:rPr lang="en-US" sz="1400" dirty="0"/>
              <a:t>Offline-Agent remains the largest channel, but its share is declining while digital channels gain share.</a:t>
            </a:r>
          </a:p>
        </p:txBody>
      </p:sp>
      <p:sp>
        <p:nvSpPr>
          <p:cNvPr id="66" name="Rounded Rectangle 16">
            <a:extLst>
              <a:ext uri="{FF2B5EF4-FFF2-40B4-BE49-F238E27FC236}">
                <a16:creationId xmlns:a16="http://schemas.microsoft.com/office/drawing/2014/main" id="{81537C45-999A-2D00-58F6-69E1BE25217C}"/>
              </a:ext>
            </a:extLst>
          </p:cNvPr>
          <p:cNvSpPr/>
          <p:nvPr/>
        </p:nvSpPr>
        <p:spPr>
          <a:xfrm>
            <a:off x="666750" y="3534179"/>
            <a:ext cx="10725912" cy="1036438"/>
          </a:xfrm>
          <a:prstGeom prst="roundRect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20">
            <a:extLst>
              <a:ext uri="{FF2B5EF4-FFF2-40B4-BE49-F238E27FC236}">
                <a16:creationId xmlns:a16="http://schemas.microsoft.com/office/drawing/2014/main" id="{CD07574F-FCB8-D88B-C8D4-BE04319B6FDA}"/>
              </a:ext>
            </a:extLst>
          </p:cNvPr>
          <p:cNvSpPr/>
          <p:nvPr/>
        </p:nvSpPr>
        <p:spPr>
          <a:xfrm>
            <a:off x="731520" y="4709160"/>
            <a:ext cx="3328416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58ED41D-182E-90D8-FF80-BBE2AF8DC438}"/>
              </a:ext>
            </a:extLst>
          </p:cNvPr>
          <p:cNvSpPr/>
          <p:nvPr/>
        </p:nvSpPr>
        <p:spPr>
          <a:xfrm>
            <a:off x="914400" y="4892040"/>
            <a:ext cx="292608" cy="292608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rPr sz="1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FF3B54-A368-B48D-D9BD-54B2FB586EBC}"/>
              </a:ext>
            </a:extLst>
          </p:cNvPr>
          <p:cNvSpPr txBox="1"/>
          <p:nvPr/>
        </p:nvSpPr>
        <p:spPr>
          <a:xfrm>
            <a:off x="1280160" y="4892040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Arial"/>
              </a:defRPr>
            </a:pPr>
            <a:r>
              <a:rPr sz="1200" dirty="0"/>
              <a:t>REVENUE AND CUSTOMER BASE EXPANDED STRONGLY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6329129-B1B6-475D-6C1E-1370DB4169FA}"/>
              </a:ext>
            </a:extLst>
          </p:cNvPr>
          <p:cNvSpPr txBox="1"/>
          <p:nvPr/>
        </p:nvSpPr>
        <p:spPr>
          <a:xfrm>
            <a:off x="914400" y="5394960"/>
            <a:ext cx="292608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200" b="1" dirty="0"/>
              <a:t>Revenue reached ₹989M and customers reached 26,841, both up approximately 18% vs last month.</a:t>
            </a:r>
          </a:p>
        </p:txBody>
      </p:sp>
      <p:sp>
        <p:nvSpPr>
          <p:cNvPr id="80" name="Rounded Rectangle 24">
            <a:extLst>
              <a:ext uri="{FF2B5EF4-FFF2-40B4-BE49-F238E27FC236}">
                <a16:creationId xmlns:a16="http://schemas.microsoft.com/office/drawing/2014/main" id="{EAE344AA-B726-804B-8EDD-D52F7CFA88FE}"/>
              </a:ext>
            </a:extLst>
          </p:cNvPr>
          <p:cNvSpPr/>
          <p:nvPr/>
        </p:nvSpPr>
        <p:spPr>
          <a:xfrm>
            <a:off x="4416552" y="4709160"/>
            <a:ext cx="3328416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5E89CDA3-C30B-1501-4E24-A819482E97F6}"/>
              </a:ext>
            </a:extLst>
          </p:cNvPr>
          <p:cNvSpPr/>
          <p:nvPr/>
        </p:nvSpPr>
        <p:spPr>
          <a:xfrm>
            <a:off x="4599432" y="4892040"/>
            <a:ext cx="292608" cy="292608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rPr sz="1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69152FA-B35D-484A-4B76-E4B254E98D30}"/>
              </a:ext>
            </a:extLst>
          </p:cNvPr>
          <p:cNvSpPr txBox="1"/>
          <p:nvPr/>
        </p:nvSpPr>
        <p:spPr>
          <a:xfrm>
            <a:off x="4965192" y="4892040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Arial"/>
              </a:defRPr>
            </a:pPr>
            <a:r>
              <a:rPr sz="1200" dirty="0"/>
              <a:t>DELHI NCR IS THE LARGEST MARKET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CFA3F0E-2B15-4B9F-3A7B-B8E9A4392308}"/>
              </a:ext>
            </a:extLst>
          </p:cNvPr>
          <p:cNvSpPr txBox="1"/>
          <p:nvPr/>
        </p:nvSpPr>
        <p:spPr>
          <a:xfrm>
            <a:off x="4599432" y="5394960"/>
            <a:ext cx="29260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200" b="1" dirty="0"/>
              <a:t>₹402M revenue from 11,007 customers — highest among cities.</a:t>
            </a:r>
          </a:p>
        </p:txBody>
      </p:sp>
      <p:sp>
        <p:nvSpPr>
          <p:cNvPr id="88" name="Rounded Rectangle 28">
            <a:extLst>
              <a:ext uri="{FF2B5EF4-FFF2-40B4-BE49-F238E27FC236}">
                <a16:creationId xmlns:a16="http://schemas.microsoft.com/office/drawing/2014/main" id="{B78A25C8-C7DA-7537-E974-0A6A1F991E8E}"/>
              </a:ext>
            </a:extLst>
          </p:cNvPr>
          <p:cNvSpPr/>
          <p:nvPr/>
        </p:nvSpPr>
        <p:spPr>
          <a:xfrm>
            <a:off x="8101584" y="4709160"/>
            <a:ext cx="3328416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31D62EA-B708-24E4-8D05-DB69B9B41206}"/>
              </a:ext>
            </a:extLst>
          </p:cNvPr>
          <p:cNvSpPr/>
          <p:nvPr/>
        </p:nvSpPr>
        <p:spPr>
          <a:xfrm>
            <a:off x="8284464" y="4892040"/>
            <a:ext cx="292608" cy="292608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rPr sz="1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683F8E6-6A42-A54C-F7CE-EFA4EFF80892}"/>
              </a:ext>
            </a:extLst>
          </p:cNvPr>
          <p:cNvSpPr txBox="1"/>
          <p:nvPr/>
        </p:nvSpPr>
        <p:spPr>
          <a:xfrm>
            <a:off x="8650224" y="4892040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Arial"/>
              </a:defRPr>
            </a:pPr>
            <a:r>
              <a:rPr sz="1200" dirty="0"/>
              <a:t>26–35 IS THE CORE CUSTOMER SEGMENT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7CDCBAC-E0A0-C0CF-61EE-9B1208D2287B}"/>
              </a:ext>
            </a:extLst>
          </p:cNvPr>
          <p:cNvSpPr txBox="1"/>
          <p:nvPr/>
        </p:nvSpPr>
        <p:spPr>
          <a:xfrm>
            <a:off x="8284464" y="5394960"/>
            <a:ext cx="29260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200" b="1" dirty="0"/>
              <a:t>9,168 customers and ₹250M revenue — the largest age segment.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A8A52-9A2B-AACD-FACA-3CAE65E80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8AEE22A8-494E-13D3-31F9-F158444C8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352425"/>
            <a:ext cx="457200" cy="457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EF3438B-5E5C-6907-D324-3BFCCB8B4A13}"/>
              </a:ext>
            </a:extLst>
          </p:cNvPr>
          <p:cNvSpPr txBox="1"/>
          <p:nvPr/>
        </p:nvSpPr>
        <p:spPr>
          <a:xfrm>
            <a:off x="1000125" y="390525"/>
            <a:ext cx="263781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SHIELD INSURANCE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01C52CD-9173-F3E4-F0BA-85044D69CF6C}"/>
              </a:ext>
            </a:extLst>
          </p:cNvPr>
          <p:cNvSpPr/>
          <p:nvPr/>
        </p:nvSpPr>
        <p:spPr>
          <a:xfrm>
            <a:off x="466725" y="1047751"/>
            <a:ext cx="11258550" cy="561974"/>
          </a:xfrm>
          <a:prstGeom prst="roundRect">
            <a:avLst/>
          </a:prstGeom>
        </p:spPr>
        <p:style>
          <a:lnRef idx="1">
            <a:schemeClr val="accent1"/>
          </a:lnRef>
          <a:fillRef idx="1001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CA8F48C1-5BC8-5F9D-2BCD-E16860191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727" y="67290"/>
            <a:ext cx="2878546" cy="387424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207B1BB5-98DE-BF6E-6AC8-3CCA7105F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1857375"/>
            <a:ext cx="256884" cy="2568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D0940B-B74A-86AF-82D2-89912290E5FF}"/>
              </a:ext>
            </a:extLst>
          </p:cNvPr>
          <p:cNvSpPr txBox="1"/>
          <p:nvPr/>
        </p:nvSpPr>
        <p:spPr>
          <a:xfrm>
            <a:off x="733425" y="1852613"/>
            <a:ext cx="236874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 dirty="0">
                <a:solidFill>
                  <a:srgbClr val="0F172A"/>
                </a:solidFill>
                <a:latin typeface="Plus Jakarta Sans ExtraBold"/>
              </a:rPr>
              <a:t> </a:t>
            </a:r>
            <a:r>
              <a:rPr sz="1400" b="1" i="0" u="none" dirty="0">
                <a:solidFill>
                  <a:srgbClr val="0F172A"/>
                </a:solidFill>
                <a:latin typeface="Plus Jakarta Sans ExtraBold"/>
              </a:rPr>
              <a:t>KEY ANALYTICAL FRAMEWORK</a:t>
            </a:r>
          </a:p>
        </p:txBody>
      </p:sp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7EC57771-258D-6B91-A5C9-7DC6F56098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2409852"/>
            <a:ext cx="381000" cy="381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0B67284-0D3F-D70D-9127-BB66E3B26F7B}"/>
              </a:ext>
            </a:extLst>
          </p:cNvPr>
          <p:cNvSpPr txBox="1"/>
          <p:nvPr/>
        </p:nvSpPr>
        <p:spPr>
          <a:xfrm>
            <a:off x="1000125" y="2409852"/>
            <a:ext cx="46196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284C7"/>
                </a:solidFill>
                <a:latin typeface="Plus Jakarta Sans ExtraBold"/>
              </a:rPr>
              <a:t>BUSINESS PERFORMANCE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5FA6E2-E294-F797-CFA5-ECB8FE4161DE}"/>
              </a:ext>
            </a:extLst>
          </p:cNvPr>
          <p:cNvSpPr txBox="1"/>
          <p:nvPr/>
        </p:nvSpPr>
        <p:spPr>
          <a:xfrm>
            <a:off x="1000124" y="2687397"/>
            <a:ext cx="4619625" cy="361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400" b="1" i="0" u="none" dirty="0">
                <a:solidFill>
                  <a:srgbClr val="334155"/>
                </a:solidFill>
                <a:latin typeface="Inter Medium"/>
              </a:rPr>
              <a:t>How many customers and </a:t>
            </a:r>
            <a:endParaRPr lang="en-US" sz="1400" b="1" dirty="0">
              <a:solidFill>
                <a:srgbClr val="334155"/>
              </a:solidFill>
              <a:latin typeface="Inter Medium"/>
            </a:endParaRPr>
          </a:p>
          <a:p>
            <a:pPr algn="l">
              <a:lnSpc>
                <a:spcPts val="1413"/>
              </a:lnSpc>
            </a:pPr>
            <a:r>
              <a:rPr sz="1400" b="1" i="0" u="none" dirty="0">
                <a:solidFill>
                  <a:srgbClr val="334155"/>
                </a:solidFill>
                <a:latin typeface="Inter Medium"/>
              </a:rPr>
              <a:t>how much revenue are we generating?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91F90B-8079-29D9-A7F7-0CE59B3E86CA}"/>
              </a:ext>
            </a:extLst>
          </p:cNvPr>
          <p:cNvSpPr txBox="1"/>
          <p:nvPr/>
        </p:nvSpPr>
        <p:spPr>
          <a:xfrm>
            <a:off x="1000125" y="3857541"/>
            <a:ext cx="46196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dirty="0">
                <a:solidFill>
                  <a:srgbClr val="0284C7"/>
                </a:solidFill>
                <a:latin typeface="Plus Jakarta Sans ExtraBold"/>
              </a:rPr>
              <a:t>MARKET</a:t>
            </a:r>
            <a:r>
              <a:rPr sz="1400" b="1" i="0" u="none" dirty="0">
                <a:solidFill>
                  <a:srgbClr val="0284C7"/>
                </a:solidFill>
                <a:latin typeface="Plus Jakarta Sans ExtraBold"/>
              </a:rPr>
              <a:t> PERFORMANCE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67411C-1A57-44F9-A0CD-9652501E087C}"/>
              </a:ext>
            </a:extLst>
          </p:cNvPr>
          <p:cNvSpPr txBox="1"/>
          <p:nvPr/>
        </p:nvSpPr>
        <p:spPr>
          <a:xfrm>
            <a:off x="986499" y="4145443"/>
            <a:ext cx="4619625" cy="361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13"/>
              </a:lnSpc>
            </a:pPr>
            <a:r>
              <a:rPr lang="en-US" sz="1400" b="1" dirty="0">
                <a:solidFill>
                  <a:srgbClr val="334155"/>
                </a:solidFill>
                <a:latin typeface="Inter Medium"/>
              </a:rPr>
              <a:t>Which cities and age groups drive the business?</a:t>
            </a:r>
          </a:p>
          <a:p>
            <a:pPr algn="l">
              <a:lnSpc>
                <a:spcPts val="1413"/>
              </a:lnSpc>
            </a:pPr>
            <a:endParaRPr sz="1400" b="1" i="0" u="none" dirty="0">
              <a:solidFill>
                <a:srgbClr val="334155"/>
              </a:solidFill>
              <a:latin typeface="Inter Medium"/>
            </a:endParaRPr>
          </a:p>
        </p:txBody>
      </p:sp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830A3919-AC8A-73D9-85DE-38268C4FB7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839" y="3801054"/>
            <a:ext cx="381000" cy="381000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DD557ED-C1D1-0C24-2C42-D6E8194F414A}"/>
              </a:ext>
            </a:extLst>
          </p:cNvPr>
          <p:cNvSpPr/>
          <p:nvPr/>
        </p:nvSpPr>
        <p:spPr>
          <a:xfrm>
            <a:off x="6884098" y="2184161"/>
            <a:ext cx="4236186" cy="1244839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E403A6F-BCF8-C9E4-5274-7B03D98E4D78}"/>
              </a:ext>
            </a:extLst>
          </p:cNvPr>
          <p:cNvSpPr/>
          <p:nvPr/>
        </p:nvSpPr>
        <p:spPr>
          <a:xfrm>
            <a:off x="6884098" y="3660905"/>
            <a:ext cx="4236186" cy="1111238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FB81C5B-2603-F6ED-1DED-8AE16BF9B634}"/>
              </a:ext>
            </a:extLst>
          </p:cNvPr>
          <p:cNvSpPr/>
          <p:nvPr/>
        </p:nvSpPr>
        <p:spPr>
          <a:xfrm>
            <a:off x="463805" y="3630621"/>
            <a:ext cx="4344169" cy="1141522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A2BD894-C120-050B-31DC-D134DEC4D9E2}"/>
              </a:ext>
            </a:extLst>
          </p:cNvPr>
          <p:cNvSpPr/>
          <p:nvPr/>
        </p:nvSpPr>
        <p:spPr>
          <a:xfrm>
            <a:off x="466725" y="2184161"/>
            <a:ext cx="4341249" cy="1244840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6C2C1A5-BF45-3FC6-724A-1214EAE3826C}"/>
              </a:ext>
            </a:extLst>
          </p:cNvPr>
          <p:cNvSpPr/>
          <p:nvPr/>
        </p:nvSpPr>
        <p:spPr>
          <a:xfrm>
            <a:off x="4167801" y="5258133"/>
            <a:ext cx="4236186" cy="1141522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 descr="image.png">
            <a:extLst>
              <a:ext uri="{FF2B5EF4-FFF2-40B4-BE49-F238E27FC236}">
                <a16:creationId xmlns:a16="http://schemas.microsoft.com/office/drawing/2014/main" id="{F3D95754-A868-12DA-05AA-24A585591D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7285" y="2573994"/>
            <a:ext cx="381000" cy="3810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9D80E92-74BB-D60A-0C9E-C8CF3A18E75D}"/>
              </a:ext>
            </a:extLst>
          </p:cNvPr>
          <p:cNvSpPr txBox="1"/>
          <p:nvPr/>
        </p:nvSpPr>
        <p:spPr>
          <a:xfrm>
            <a:off x="7266835" y="2552665"/>
            <a:ext cx="2408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u="none" dirty="0">
                <a:solidFill>
                  <a:srgbClr val="0284C7"/>
                </a:solidFill>
                <a:latin typeface="Plus Jakarta Sans ExtraBold"/>
              </a:rPr>
              <a:t> CUSTOMER PROFILE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17CF75-EB9D-D6D3-61CC-56F8162ACE53}"/>
              </a:ext>
            </a:extLst>
          </p:cNvPr>
          <p:cNvSpPr txBox="1"/>
          <p:nvPr/>
        </p:nvSpPr>
        <p:spPr>
          <a:xfrm>
            <a:off x="7266835" y="2803661"/>
            <a:ext cx="6681018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13"/>
              </a:lnSpc>
            </a:pPr>
            <a:r>
              <a:rPr lang="en-US" sz="1400" b="1" i="0" u="none" dirty="0">
                <a:solidFill>
                  <a:srgbClr val="334155"/>
                </a:solidFill>
                <a:latin typeface="Inter Medium"/>
              </a:rPr>
              <a:t>What does our customer base look like?</a:t>
            </a:r>
          </a:p>
        </p:txBody>
      </p:sp>
      <p:pic>
        <p:nvPicPr>
          <p:cNvPr id="65" name="Picture 64" descr="image.png">
            <a:extLst>
              <a:ext uri="{FF2B5EF4-FFF2-40B4-BE49-F238E27FC236}">
                <a16:creationId xmlns:a16="http://schemas.microsoft.com/office/drawing/2014/main" id="{EBD2029B-9D3D-B727-071C-37B128DB69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1915" y="3857541"/>
            <a:ext cx="381000" cy="3810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D37EA0BB-7FA6-DAF1-DDE0-2D9324455AF3}"/>
              </a:ext>
            </a:extLst>
          </p:cNvPr>
          <p:cNvSpPr txBox="1"/>
          <p:nvPr/>
        </p:nvSpPr>
        <p:spPr>
          <a:xfrm>
            <a:off x="7362915" y="3837666"/>
            <a:ext cx="31587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0284C7"/>
                </a:solidFill>
                <a:latin typeface="Plus Jakarta Sans ExtraBold"/>
              </a:rPr>
              <a:t>SALES</a:t>
            </a:r>
            <a:r>
              <a:rPr lang="en-US" sz="1050" b="0" i="0" u="none" dirty="0">
                <a:solidFill>
                  <a:srgbClr val="0284C7"/>
                </a:solidFill>
                <a:latin typeface="Plus Jakarta Sans ExtraBold"/>
              </a:rPr>
              <a:t> </a:t>
            </a:r>
            <a:r>
              <a:rPr lang="en-US" sz="1400" b="1" dirty="0">
                <a:solidFill>
                  <a:srgbClr val="0284C7"/>
                </a:solidFill>
                <a:latin typeface="Plus Jakarta Sans ExtraBold"/>
              </a:rPr>
              <a:t>CHANNELS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DE98411-0895-E397-D0CE-64DB004F7D23}"/>
              </a:ext>
            </a:extLst>
          </p:cNvPr>
          <p:cNvSpPr txBox="1"/>
          <p:nvPr/>
        </p:nvSpPr>
        <p:spPr>
          <a:xfrm>
            <a:off x="7323586" y="4134782"/>
            <a:ext cx="4047279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13"/>
              </a:lnSpc>
            </a:pPr>
            <a:r>
              <a:rPr lang="en-US" sz="1400" b="1" dirty="0">
                <a:solidFill>
                  <a:srgbClr val="334155"/>
                </a:solidFill>
                <a:latin typeface="Inter Medium"/>
              </a:rPr>
              <a:t>Which</a:t>
            </a:r>
            <a:r>
              <a:rPr lang="en-US" sz="975" b="1" i="0" u="none" dirty="0">
                <a:solidFill>
                  <a:srgbClr val="334155"/>
                </a:solidFill>
                <a:latin typeface="Inter Medium"/>
              </a:rPr>
              <a:t> </a:t>
            </a:r>
            <a:r>
              <a:rPr lang="en-US" sz="1400" b="1" dirty="0">
                <a:solidFill>
                  <a:srgbClr val="334155"/>
                </a:solidFill>
                <a:latin typeface="Inter Medium"/>
              </a:rPr>
              <a:t>sales</a:t>
            </a:r>
            <a:r>
              <a:rPr lang="en-US" sz="975" b="1" i="0" u="none" dirty="0">
                <a:solidFill>
                  <a:srgbClr val="334155"/>
                </a:solidFill>
                <a:latin typeface="Inter Medium"/>
              </a:rPr>
              <a:t> </a:t>
            </a:r>
            <a:r>
              <a:rPr lang="en-US" sz="1400" b="1" dirty="0">
                <a:solidFill>
                  <a:srgbClr val="334155"/>
                </a:solidFill>
                <a:latin typeface="Inter Medium"/>
              </a:rPr>
              <a:t>modes</a:t>
            </a:r>
            <a:r>
              <a:rPr lang="en-US" sz="975" b="1" i="0" u="none" dirty="0">
                <a:solidFill>
                  <a:srgbClr val="334155"/>
                </a:solidFill>
                <a:latin typeface="Inter Medium"/>
              </a:rPr>
              <a:t> </a:t>
            </a:r>
            <a:r>
              <a:rPr lang="en-US" sz="1400" b="1" dirty="0">
                <a:solidFill>
                  <a:srgbClr val="334155"/>
                </a:solidFill>
                <a:latin typeface="Inter Medium"/>
              </a:rPr>
              <a:t>drive</a:t>
            </a:r>
            <a:r>
              <a:rPr lang="en-US" sz="975" b="1" i="0" u="none" dirty="0">
                <a:solidFill>
                  <a:srgbClr val="334155"/>
                </a:solidFill>
                <a:latin typeface="Inter Medium"/>
              </a:rPr>
              <a:t> </a:t>
            </a:r>
            <a:r>
              <a:rPr lang="en-US" sz="1400" b="1" dirty="0">
                <a:solidFill>
                  <a:srgbClr val="334155"/>
                </a:solidFill>
                <a:latin typeface="Inter Medium"/>
              </a:rPr>
              <a:t>revenue</a:t>
            </a:r>
            <a:r>
              <a:rPr lang="en-US" sz="975" b="1" i="0" u="none" dirty="0">
                <a:solidFill>
                  <a:srgbClr val="334155"/>
                </a:solidFill>
                <a:latin typeface="Inter Medium"/>
              </a:rPr>
              <a:t> </a:t>
            </a:r>
            <a:r>
              <a:rPr lang="en-US" sz="1400" b="1" dirty="0">
                <a:solidFill>
                  <a:srgbClr val="334155"/>
                </a:solidFill>
                <a:latin typeface="Inter Medium"/>
              </a:rPr>
              <a:t>and</a:t>
            </a:r>
            <a:r>
              <a:rPr lang="en-US" sz="975" b="1" i="0" u="none" dirty="0">
                <a:solidFill>
                  <a:srgbClr val="334155"/>
                </a:solidFill>
                <a:latin typeface="Inter Medium"/>
              </a:rPr>
              <a:t> </a:t>
            </a:r>
            <a:r>
              <a:rPr lang="en-US" sz="1400" b="1" dirty="0">
                <a:solidFill>
                  <a:srgbClr val="334155"/>
                </a:solidFill>
                <a:latin typeface="Inter Medium"/>
              </a:rPr>
              <a:t>customers</a:t>
            </a:r>
            <a:r>
              <a:rPr lang="en-US" sz="975" b="1" i="0" u="none" dirty="0">
                <a:solidFill>
                  <a:srgbClr val="334155"/>
                </a:solidFill>
                <a:latin typeface="Inter Medium"/>
              </a:rPr>
              <a:t>?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682FA96-013E-DED6-521B-5CE849F90B96}"/>
              </a:ext>
            </a:extLst>
          </p:cNvPr>
          <p:cNvSpPr txBox="1"/>
          <p:nvPr/>
        </p:nvSpPr>
        <p:spPr>
          <a:xfrm>
            <a:off x="4644131" y="5510199"/>
            <a:ext cx="69759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u="none" dirty="0">
                <a:solidFill>
                  <a:srgbClr val="0284C7"/>
                </a:solidFill>
                <a:latin typeface="Plus Jakarta Sans ExtraBold"/>
              </a:rPr>
              <a:t>CUSTOMER BEHAVIOR</a:t>
            </a:r>
          </a:p>
        </p:txBody>
      </p:sp>
      <p:pic>
        <p:nvPicPr>
          <p:cNvPr id="77" name="Picture 76" descr="image.png">
            <a:extLst>
              <a:ext uri="{FF2B5EF4-FFF2-40B4-BE49-F238E27FC236}">
                <a16:creationId xmlns:a16="http://schemas.microsoft.com/office/drawing/2014/main" id="{6BE97FBC-9673-E2FF-F49D-453A3D5424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5727" y="5481406"/>
            <a:ext cx="381000" cy="381000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90A60F60-F8D1-1399-5A3A-8970A9727577}"/>
              </a:ext>
            </a:extLst>
          </p:cNvPr>
          <p:cNvSpPr txBox="1"/>
          <p:nvPr/>
        </p:nvSpPr>
        <p:spPr>
          <a:xfrm>
            <a:off x="4644131" y="5756399"/>
            <a:ext cx="6714138" cy="453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13"/>
              </a:lnSpc>
            </a:pPr>
            <a:r>
              <a:rPr lang="en-US" sz="1400" b="1" i="0" u="none" dirty="0">
                <a:solidFill>
                  <a:srgbClr val="334155"/>
                </a:solidFill>
                <a:latin typeface="Inter Medium"/>
              </a:rPr>
              <a:t>How do settlement, policy and sales-mode </a:t>
            </a:r>
          </a:p>
          <a:p>
            <a:pPr algn="l">
              <a:lnSpc>
                <a:spcPts val="1413"/>
              </a:lnSpc>
            </a:pPr>
            <a:r>
              <a:rPr lang="en-US" sz="1400" b="1" i="0" u="none" dirty="0">
                <a:solidFill>
                  <a:srgbClr val="334155"/>
                </a:solidFill>
                <a:latin typeface="Inter Medium"/>
              </a:rPr>
              <a:t>preferences vary by age group?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8B3395F-2DF1-0E4A-3318-97F4D060A91A}"/>
              </a:ext>
            </a:extLst>
          </p:cNvPr>
          <p:cNvSpPr txBox="1"/>
          <p:nvPr/>
        </p:nvSpPr>
        <p:spPr>
          <a:xfrm>
            <a:off x="740664" y="1190097"/>
            <a:ext cx="104019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THE ANALYSIS WAS DESIGNED TO ANSWER THE KEY QUESTIONS DRIVING REVENUE, CUSTOMER, MARKET AND CHANNEL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902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4D103A-8DB8-8399-FDB2-9F6FF6D49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E63B0539-937D-9CA2-204C-57DFB9C2C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352425"/>
            <a:ext cx="457200" cy="457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366940C-64EE-0593-C4D6-B792ECE595EA}"/>
              </a:ext>
            </a:extLst>
          </p:cNvPr>
          <p:cNvSpPr txBox="1"/>
          <p:nvPr/>
        </p:nvSpPr>
        <p:spPr>
          <a:xfrm>
            <a:off x="1000125" y="390525"/>
            <a:ext cx="263781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SHIELD INSURANCE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9C2D785-A28B-B01C-8274-4204CDCAB7E5}"/>
              </a:ext>
            </a:extLst>
          </p:cNvPr>
          <p:cNvSpPr/>
          <p:nvPr/>
        </p:nvSpPr>
        <p:spPr>
          <a:xfrm>
            <a:off x="466725" y="1047751"/>
            <a:ext cx="11258550" cy="561974"/>
          </a:xfrm>
          <a:prstGeom prst="roundRect">
            <a:avLst/>
          </a:prstGeom>
        </p:spPr>
        <p:style>
          <a:lnRef idx="1">
            <a:schemeClr val="accent1"/>
          </a:lnRef>
          <a:fillRef idx="1001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F9A975C-1A00-5858-079D-EB589C1CBA49}"/>
              </a:ext>
            </a:extLst>
          </p:cNvPr>
          <p:cNvSpPr txBox="1"/>
          <p:nvPr/>
        </p:nvSpPr>
        <p:spPr>
          <a:xfrm>
            <a:off x="740664" y="1190097"/>
            <a:ext cx="10401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REVENUE AND CUSTOMER BASE GREW STRONGLY, BUT DAILY PERFORMANCE SOFTENED SLIGHTLY IN THE LATEST MONTH.</a:t>
            </a: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58CC6397-6273-121F-4062-A35F4E251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761" y="22265"/>
            <a:ext cx="3020478" cy="369331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5A0F6A35-356B-CEAA-2CB2-3F5F19E3E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1729641"/>
            <a:ext cx="2728912" cy="1047750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D17075C1-56F6-5730-5ECD-1A19A59BFF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33" y="2405528"/>
            <a:ext cx="925992" cy="1933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C3EE27-5C48-E01D-195E-DB152EC26252}"/>
              </a:ext>
            </a:extLst>
          </p:cNvPr>
          <p:cNvSpPr txBox="1"/>
          <p:nvPr/>
        </p:nvSpPr>
        <p:spPr>
          <a:xfrm>
            <a:off x="676275" y="1901091"/>
            <a:ext cx="2309812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950" b="1" i="0" u="none" dirty="0">
                <a:solidFill>
                  <a:srgbClr val="0F172A"/>
                </a:solidFill>
                <a:latin typeface="Plus Jakarta Sans ExtraBold"/>
              </a:rPr>
              <a:t>₹989M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7D05A8-0881-B14E-293F-5599AC20DBFC}"/>
              </a:ext>
            </a:extLst>
          </p:cNvPr>
          <p:cNvSpPr txBox="1"/>
          <p:nvPr/>
        </p:nvSpPr>
        <p:spPr>
          <a:xfrm>
            <a:off x="676275" y="2211546"/>
            <a:ext cx="230981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64748B"/>
                </a:solidFill>
                <a:latin typeface="Plus Jakarta Sans ExtraBold"/>
              </a:rPr>
              <a:t>TOTAL REVENUE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D579F27-61B8-56E4-98A4-1C78C35D07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3158972"/>
            <a:ext cx="11258550" cy="3486563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52A673CB-A034-1A9D-C3E8-C4188D7424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1362" y="1742005"/>
            <a:ext cx="2728912" cy="1047750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042C9F6B-A3D6-CDAB-A23C-E685705365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1725" y="1742005"/>
            <a:ext cx="2728912" cy="1047750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7A196C23-1124-A6FA-A832-AF2992DFB9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2087" y="1742005"/>
            <a:ext cx="2728912" cy="104775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43194BAB-0F2D-10B4-5F4B-EFACC02F95B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75122" y="2446128"/>
            <a:ext cx="910639" cy="192246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42E88952-339D-B2D2-4E1D-5DDE287B9D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4156" y="2437330"/>
            <a:ext cx="962025" cy="220223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410A7204-20E5-E877-3BA1-AF31D848FB7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90518" y="2445894"/>
            <a:ext cx="887200" cy="20309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0FB0B91-CD4D-6C85-A055-D301989205E6}"/>
              </a:ext>
            </a:extLst>
          </p:cNvPr>
          <p:cNvSpPr txBox="1"/>
          <p:nvPr/>
        </p:nvSpPr>
        <p:spPr>
          <a:xfrm>
            <a:off x="3490912" y="1913455"/>
            <a:ext cx="2309812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2000" b="1" i="0" u="none" dirty="0">
                <a:solidFill>
                  <a:srgbClr val="0F172A"/>
                </a:solidFill>
                <a:latin typeface="Plus Jakarta Sans ExtraBold"/>
              </a:rPr>
              <a:t>26,841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B69590-6EE2-5BB9-EB7F-6C9DD9200288}"/>
              </a:ext>
            </a:extLst>
          </p:cNvPr>
          <p:cNvSpPr txBox="1"/>
          <p:nvPr/>
        </p:nvSpPr>
        <p:spPr>
          <a:xfrm>
            <a:off x="3490912" y="2223910"/>
            <a:ext cx="230981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64748B"/>
                </a:solidFill>
                <a:latin typeface="Plus Jakarta Sans ExtraBold"/>
              </a:rPr>
              <a:t>TOTAL CUSTOMERS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4F3A321-C8F7-DA5E-D32D-F0476FEA9D9A}"/>
              </a:ext>
            </a:extLst>
          </p:cNvPr>
          <p:cNvSpPr txBox="1"/>
          <p:nvPr/>
        </p:nvSpPr>
        <p:spPr>
          <a:xfrm>
            <a:off x="6391275" y="1913455"/>
            <a:ext cx="2309812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950" b="1" i="0" u="none" dirty="0">
                <a:solidFill>
                  <a:srgbClr val="0F172A"/>
                </a:solidFill>
                <a:latin typeface="Plus Jakarta Sans ExtraBold"/>
              </a:rPr>
              <a:t>₹5.47M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71A8E5-686F-C9C0-5DB3-E22C7B5A562F}"/>
              </a:ext>
            </a:extLst>
          </p:cNvPr>
          <p:cNvSpPr txBox="1"/>
          <p:nvPr/>
        </p:nvSpPr>
        <p:spPr>
          <a:xfrm>
            <a:off x="6391275" y="2223910"/>
            <a:ext cx="23098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64748B"/>
                </a:solidFill>
                <a:latin typeface="Plus Jakarta Sans ExtraBold"/>
              </a:rPr>
              <a:t>DAILY REVENUE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AD5911-27D4-F8AF-3D33-20DB5957ADE4}"/>
              </a:ext>
            </a:extLst>
          </p:cNvPr>
          <p:cNvSpPr txBox="1"/>
          <p:nvPr/>
        </p:nvSpPr>
        <p:spPr>
          <a:xfrm>
            <a:off x="9291637" y="1913455"/>
            <a:ext cx="2309812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950" b="1" i="0" u="none" dirty="0">
                <a:solidFill>
                  <a:srgbClr val="0F172A"/>
                </a:solidFill>
                <a:latin typeface="Plus Jakarta Sans ExtraBold"/>
              </a:rPr>
              <a:t>148.29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ED9281-BD38-B8B4-1F50-52B81BC9EB1C}"/>
              </a:ext>
            </a:extLst>
          </p:cNvPr>
          <p:cNvSpPr txBox="1"/>
          <p:nvPr/>
        </p:nvSpPr>
        <p:spPr>
          <a:xfrm>
            <a:off x="9291637" y="2223910"/>
            <a:ext cx="23098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64748B"/>
                </a:solidFill>
                <a:latin typeface="Plus Jakarta Sans ExtraBold"/>
              </a:rPr>
              <a:t>DAILY CUSTOMERS</a:t>
            </a:r>
          </a:p>
        </p:txBody>
      </p:sp>
      <p:pic>
        <p:nvPicPr>
          <p:cNvPr id="60" name="Picture 59" descr="image.png">
            <a:extLst>
              <a:ext uri="{FF2B5EF4-FFF2-40B4-BE49-F238E27FC236}">
                <a16:creationId xmlns:a16="http://schemas.microsoft.com/office/drawing/2014/main" id="{63F05AB9-F1AE-7152-A49F-8225E63EDFB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937" y="2405528"/>
            <a:ext cx="147638" cy="232003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1FD0EDD7-C030-F066-2C02-6A7C0F1FE63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flipH="1">
            <a:off x="3555203" y="2446128"/>
            <a:ext cx="152401" cy="259083"/>
          </a:xfrm>
          <a:prstGeom prst="rect">
            <a:avLst/>
          </a:prstGeom>
        </p:spPr>
      </p:pic>
      <p:pic>
        <p:nvPicPr>
          <p:cNvPr id="69" name="Picture 68" descr="image.png">
            <a:extLst>
              <a:ext uri="{FF2B5EF4-FFF2-40B4-BE49-F238E27FC236}">
                <a16:creationId xmlns:a16="http://schemas.microsoft.com/office/drawing/2014/main" id="{402699BA-93E4-A15A-AC32-03E09E1BD56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16316" y="2428300"/>
            <a:ext cx="140417" cy="220655"/>
          </a:xfrm>
          <a:prstGeom prst="rect">
            <a:avLst/>
          </a:prstGeom>
        </p:spPr>
      </p:pic>
      <p:pic>
        <p:nvPicPr>
          <p:cNvPr id="72" name="Picture 71" descr="image.png">
            <a:extLst>
              <a:ext uri="{FF2B5EF4-FFF2-40B4-BE49-F238E27FC236}">
                <a16:creationId xmlns:a16="http://schemas.microsoft.com/office/drawing/2014/main" id="{44B9376A-18E7-3E7C-CA47-880D3C90BF5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57247" y="2455758"/>
            <a:ext cx="133271" cy="20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508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9AC04A-E89F-6C85-D8D6-8C54C1005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FDF8A983-5F96-9354-E096-366DE8223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352425"/>
            <a:ext cx="457200" cy="457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800D5C9-CE62-1786-CAE1-D4076FDCFEF8}"/>
              </a:ext>
            </a:extLst>
          </p:cNvPr>
          <p:cNvSpPr txBox="1"/>
          <p:nvPr/>
        </p:nvSpPr>
        <p:spPr>
          <a:xfrm>
            <a:off x="1000125" y="390525"/>
            <a:ext cx="263781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SHIELD INSURANCE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BE3A68B-6D1C-004F-E4E4-ACDD5DEC9CE6}"/>
              </a:ext>
            </a:extLst>
          </p:cNvPr>
          <p:cNvSpPr/>
          <p:nvPr/>
        </p:nvSpPr>
        <p:spPr>
          <a:xfrm>
            <a:off x="466725" y="1047751"/>
            <a:ext cx="11258550" cy="561974"/>
          </a:xfrm>
          <a:prstGeom prst="roundRect">
            <a:avLst/>
          </a:prstGeom>
        </p:spPr>
        <p:style>
          <a:lnRef idx="1">
            <a:schemeClr val="accent1"/>
          </a:lnRef>
          <a:fillRef idx="1001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57E335A-36DB-12F1-7A44-5C91AD4C7167}"/>
              </a:ext>
            </a:extLst>
          </p:cNvPr>
          <p:cNvSpPr txBox="1"/>
          <p:nvPr/>
        </p:nvSpPr>
        <p:spPr>
          <a:xfrm>
            <a:off x="740664" y="1190097"/>
            <a:ext cx="10401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DELHI NCR IS THE LARGEST MARKET, WHILE THE 55+ SEGMENT CONTRIBUTES DISPROPORTIONATELY TO REVENUE.</a:t>
            </a:r>
          </a:p>
          <a:p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BE59D600-47E1-B62F-E4EF-60065D566492}"/>
              </a:ext>
            </a:extLst>
          </p:cNvPr>
          <p:cNvSpPr/>
          <p:nvPr/>
        </p:nvSpPr>
        <p:spPr>
          <a:xfrm>
            <a:off x="4726550" y="79412"/>
            <a:ext cx="2844289" cy="4572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400" dirty="0"/>
              <a:t>CUSTOMER &amp; MARKET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F3D602AB-C4F7-F0C8-13BC-D1A18F5DB9FE}"/>
              </a:ext>
            </a:extLst>
          </p:cNvPr>
          <p:cNvSpPr/>
          <p:nvPr/>
        </p:nvSpPr>
        <p:spPr>
          <a:xfrm>
            <a:off x="731520" y="1691640"/>
            <a:ext cx="51663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89EEFB-5FC1-C56D-957E-231F8662D3AD}"/>
              </a:ext>
            </a:extLst>
          </p:cNvPr>
          <p:cNvSpPr txBox="1"/>
          <p:nvPr/>
        </p:nvSpPr>
        <p:spPr>
          <a:xfrm>
            <a:off x="1325880" y="1828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</a:defRPr>
            </a:pPr>
            <a:r>
              <a:rPr dirty="0"/>
              <a:t>CITY PERFORMANCE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D60116-5ABD-88E0-C853-E9888DCC1173}"/>
              </a:ext>
            </a:extLst>
          </p:cNvPr>
          <p:cNvSpPr txBox="1"/>
          <p:nvPr/>
        </p:nvSpPr>
        <p:spPr>
          <a:xfrm>
            <a:off x="1005840" y="2194560"/>
            <a:ext cx="13716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Arial"/>
              </a:defRPr>
            </a:pPr>
            <a:r>
              <a:rPr sz="1200" dirty="0"/>
              <a:t>Delhi NCR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A7490C-4ECA-F61B-D5BE-01C948905246}"/>
              </a:ext>
            </a:extLst>
          </p:cNvPr>
          <p:cNvSpPr txBox="1"/>
          <p:nvPr/>
        </p:nvSpPr>
        <p:spPr>
          <a:xfrm>
            <a:off x="2377440" y="21945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0284C7"/>
                </a:solidFill>
                <a:latin typeface="Arial"/>
              </a:defRPr>
            </a:pPr>
            <a:r>
              <a:t>₹402M</a:t>
            </a: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6E375728-E6A6-0627-675C-8EF6A1F8C3F7}"/>
              </a:ext>
            </a:extLst>
          </p:cNvPr>
          <p:cNvSpPr/>
          <p:nvPr/>
        </p:nvSpPr>
        <p:spPr>
          <a:xfrm>
            <a:off x="1005840" y="2450592"/>
            <a:ext cx="4617720" cy="10972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9">
            <a:extLst>
              <a:ext uri="{FF2B5EF4-FFF2-40B4-BE49-F238E27FC236}">
                <a16:creationId xmlns:a16="http://schemas.microsoft.com/office/drawing/2014/main" id="{939E1898-9321-D499-5599-32C757CD80A7}"/>
              </a:ext>
            </a:extLst>
          </p:cNvPr>
          <p:cNvSpPr/>
          <p:nvPr/>
        </p:nvSpPr>
        <p:spPr>
          <a:xfrm>
            <a:off x="1005840" y="2450592"/>
            <a:ext cx="3291840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1A4FAF-0489-2505-E6D4-DAD19EF270B6}"/>
              </a:ext>
            </a:extLst>
          </p:cNvPr>
          <p:cNvSpPr txBox="1"/>
          <p:nvPr/>
        </p:nvSpPr>
        <p:spPr>
          <a:xfrm>
            <a:off x="1005840" y="2834640"/>
            <a:ext cx="13716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200" b="1" dirty="0"/>
              <a:t>Mumbai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DD77B2-75E2-5708-BFAE-E184317E36A5}"/>
              </a:ext>
            </a:extLst>
          </p:cNvPr>
          <p:cNvSpPr txBox="1"/>
          <p:nvPr/>
        </p:nvSpPr>
        <p:spPr>
          <a:xfrm>
            <a:off x="2377440" y="28346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Arial"/>
              </a:defRPr>
            </a:pPr>
            <a:r>
              <a:t>₹240M</a:t>
            </a:r>
          </a:p>
        </p:txBody>
      </p:sp>
      <p:sp>
        <p:nvSpPr>
          <p:cNvPr id="38" name="Rounded Rectangle 12">
            <a:extLst>
              <a:ext uri="{FF2B5EF4-FFF2-40B4-BE49-F238E27FC236}">
                <a16:creationId xmlns:a16="http://schemas.microsoft.com/office/drawing/2014/main" id="{B81D0EA8-5513-1F00-C2BC-22EA96C3043D}"/>
              </a:ext>
            </a:extLst>
          </p:cNvPr>
          <p:cNvSpPr/>
          <p:nvPr/>
        </p:nvSpPr>
        <p:spPr>
          <a:xfrm>
            <a:off x="1005840" y="3090672"/>
            <a:ext cx="4617720" cy="10972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13">
            <a:extLst>
              <a:ext uri="{FF2B5EF4-FFF2-40B4-BE49-F238E27FC236}">
                <a16:creationId xmlns:a16="http://schemas.microsoft.com/office/drawing/2014/main" id="{47326E5F-6274-2472-DE0D-8226A5F88B40}"/>
              </a:ext>
            </a:extLst>
          </p:cNvPr>
          <p:cNvSpPr/>
          <p:nvPr/>
        </p:nvSpPr>
        <p:spPr>
          <a:xfrm>
            <a:off x="1005840" y="3090672"/>
            <a:ext cx="2011680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398CFB-81C8-B699-BB65-60FA2DCE04ED}"/>
              </a:ext>
            </a:extLst>
          </p:cNvPr>
          <p:cNvSpPr txBox="1"/>
          <p:nvPr/>
        </p:nvSpPr>
        <p:spPr>
          <a:xfrm>
            <a:off x="1005840" y="3474720"/>
            <a:ext cx="13716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200" b="1" dirty="0"/>
              <a:t>Hyderabad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64192A-C754-B899-193C-986277F4B083}"/>
              </a:ext>
            </a:extLst>
          </p:cNvPr>
          <p:cNvSpPr txBox="1"/>
          <p:nvPr/>
        </p:nvSpPr>
        <p:spPr>
          <a:xfrm>
            <a:off x="2377440" y="34747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Arial"/>
              </a:defRPr>
            </a:pPr>
            <a:r>
              <a:t>₹161M</a:t>
            </a:r>
          </a:p>
        </p:txBody>
      </p:sp>
      <p:sp>
        <p:nvSpPr>
          <p:cNvPr id="50" name="Rounded Rectangle 16">
            <a:extLst>
              <a:ext uri="{FF2B5EF4-FFF2-40B4-BE49-F238E27FC236}">
                <a16:creationId xmlns:a16="http://schemas.microsoft.com/office/drawing/2014/main" id="{64530DC6-D285-554E-B22A-587B37D80E6D}"/>
              </a:ext>
            </a:extLst>
          </p:cNvPr>
          <p:cNvSpPr/>
          <p:nvPr/>
        </p:nvSpPr>
        <p:spPr>
          <a:xfrm>
            <a:off x="1005840" y="3730752"/>
            <a:ext cx="4617720" cy="10972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17">
            <a:extLst>
              <a:ext uri="{FF2B5EF4-FFF2-40B4-BE49-F238E27FC236}">
                <a16:creationId xmlns:a16="http://schemas.microsoft.com/office/drawing/2014/main" id="{48585881-9D0C-A78A-02E2-72D643EC63CA}"/>
              </a:ext>
            </a:extLst>
          </p:cNvPr>
          <p:cNvSpPr/>
          <p:nvPr/>
        </p:nvSpPr>
        <p:spPr>
          <a:xfrm>
            <a:off x="1005840" y="3730752"/>
            <a:ext cx="1371600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133D543-6C13-ED31-2837-110DA9D38397}"/>
              </a:ext>
            </a:extLst>
          </p:cNvPr>
          <p:cNvSpPr txBox="1"/>
          <p:nvPr/>
        </p:nvSpPr>
        <p:spPr>
          <a:xfrm>
            <a:off x="1005840" y="4114800"/>
            <a:ext cx="13716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200" b="1" dirty="0"/>
              <a:t>Chennai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BDB146-7AF1-158A-CBF6-C3A0995D90BA}"/>
              </a:ext>
            </a:extLst>
          </p:cNvPr>
          <p:cNvSpPr txBox="1"/>
          <p:nvPr/>
        </p:nvSpPr>
        <p:spPr>
          <a:xfrm>
            <a:off x="2377440" y="4114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Arial"/>
              </a:defRPr>
            </a:pPr>
            <a:r>
              <a:t>₹106M</a:t>
            </a:r>
          </a:p>
        </p:txBody>
      </p:sp>
      <p:sp>
        <p:nvSpPr>
          <p:cNvPr id="61" name="Rounded Rectangle 20">
            <a:extLst>
              <a:ext uri="{FF2B5EF4-FFF2-40B4-BE49-F238E27FC236}">
                <a16:creationId xmlns:a16="http://schemas.microsoft.com/office/drawing/2014/main" id="{429B47AD-C6E9-C8A6-11C4-4BBC600CF151}"/>
              </a:ext>
            </a:extLst>
          </p:cNvPr>
          <p:cNvSpPr/>
          <p:nvPr/>
        </p:nvSpPr>
        <p:spPr>
          <a:xfrm>
            <a:off x="1005840" y="4370832"/>
            <a:ext cx="4617720" cy="10972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21">
            <a:extLst>
              <a:ext uri="{FF2B5EF4-FFF2-40B4-BE49-F238E27FC236}">
                <a16:creationId xmlns:a16="http://schemas.microsoft.com/office/drawing/2014/main" id="{2DEDD3E1-4062-095B-AB85-678A354C0BF4}"/>
              </a:ext>
            </a:extLst>
          </p:cNvPr>
          <p:cNvSpPr/>
          <p:nvPr/>
        </p:nvSpPr>
        <p:spPr>
          <a:xfrm>
            <a:off x="1005840" y="4370832"/>
            <a:ext cx="914400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B6A2143-C643-9E65-873E-80D1C8758599}"/>
              </a:ext>
            </a:extLst>
          </p:cNvPr>
          <p:cNvSpPr txBox="1"/>
          <p:nvPr/>
        </p:nvSpPr>
        <p:spPr>
          <a:xfrm>
            <a:off x="1005840" y="4754880"/>
            <a:ext cx="13716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200" b="1" dirty="0"/>
              <a:t>Indore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60DF4B-2451-057B-231F-4BCFEE5CD143}"/>
              </a:ext>
            </a:extLst>
          </p:cNvPr>
          <p:cNvSpPr txBox="1"/>
          <p:nvPr/>
        </p:nvSpPr>
        <p:spPr>
          <a:xfrm>
            <a:off x="2377440" y="47548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Arial"/>
              </a:defRPr>
            </a:pPr>
            <a:r>
              <a:t>₹81M</a:t>
            </a:r>
          </a:p>
        </p:txBody>
      </p:sp>
      <p:sp>
        <p:nvSpPr>
          <p:cNvPr id="71" name="Rounded Rectangle 24">
            <a:extLst>
              <a:ext uri="{FF2B5EF4-FFF2-40B4-BE49-F238E27FC236}">
                <a16:creationId xmlns:a16="http://schemas.microsoft.com/office/drawing/2014/main" id="{B7D382BF-A394-7E53-EFD8-CED36DE43406}"/>
              </a:ext>
            </a:extLst>
          </p:cNvPr>
          <p:cNvSpPr/>
          <p:nvPr/>
        </p:nvSpPr>
        <p:spPr>
          <a:xfrm>
            <a:off x="1005840" y="5010912"/>
            <a:ext cx="4617720" cy="10972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25">
            <a:extLst>
              <a:ext uri="{FF2B5EF4-FFF2-40B4-BE49-F238E27FC236}">
                <a16:creationId xmlns:a16="http://schemas.microsoft.com/office/drawing/2014/main" id="{38DB74DD-97D3-709F-CD33-18542F722BE3}"/>
              </a:ext>
            </a:extLst>
          </p:cNvPr>
          <p:cNvSpPr/>
          <p:nvPr/>
        </p:nvSpPr>
        <p:spPr>
          <a:xfrm>
            <a:off x="1005840" y="5010912"/>
            <a:ext cx="640080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26">
            <a:extLst>
              <a:ext uri="{FF2B5EF4-FFF2-40B4-BE49-F238E27FC236}">
                <a16:creationId xmlns:a16="http://schemas.microsoft.com/office/drawing/2014/main" id="{D462347D-CEF5-4942-4E55-33398D8A5961}"/>
              </a:ext>
            </a:extLst>
          </p:cNvPr>
          <p:cNvSpPr/>
          <p:nvPr/>
        </p:nvSpPr>
        <p:spPr>
          <a:xfrm>
            <a:off x="1005840" y="5623560"/>
            <a:ext cx="4617720" cy="502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DB399D6-B77D-0957-1BF2-8D221984512E}"/>
              </a:ext>
            </a:extLst>
          </p:cNvPr>
          <p:cNvSpPr txBox="1"/>
          <p:nvPr/>
        </p:nvSpPr>
        <p:spPr>
          <a:xfrm>
            <a:off x="1188720" y="5760720"/>
            <a:ext cx="18288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0284C7"/>
                </a:solidFill>
                <a:latin typeface="Arial"/>
              </a:defRPr>
            </a:pPr>
            <a:r>
              <a:rPr sz="1100" dirty="0"/>
              <a:t>DELHI NCR: TOP MARKET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209DEF3-F79C-279B-3AE6-646A39C90EC1}"/>
              </a:ext>
            </a:extLst>
          </p:cNvPr>
          <p:cNvSpPr txBox="1"/>
          <p:nvPr/>
        </p:nvSpPr>
        <p:spPr>
          <a:xfrm>
            <a:off x="2926080" y="5760720"/>
            <a:ext cx="11887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11827"/>
                </a:solidFill>
                <a:latin typeface="Arial"/>
              </a:defRPr>
            </a:pPr>
            <a:r>
              <a:rPr sz="1200" dirty="0"/>
              <a:t>11,007 Cust.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799DF1E-F707-FA95-FF7A-33287DD0BE0C}"/>
              </a:ext>
            </a:extLst>
          </p:cNvPr>
          <p:cNvSpPr txBox="1"/>
          <p:nvPr/>
        </p:nvSpPr>
        <p:spPr>
          <a:xfrm>
            <a:off x="4206240" y="5760720"/>
            <a:ext cx="11887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11827"/>
                </a:solidFill>
                <a:latin typeface="Arial"/>
              </a:defRPr>
            </a:pPr>
            <a:r>
              <a:rPr sz="1200" dirty="0"/>
              <a:t>₹402M Rev.</a:t>
            </a:r>
          </a:p>
        </p:txBody>
      </p:sp>
      <p:sp>
        <p:nvSpPr>
          <p:cNvPr id="85" name="Rounded Rectangle 30">
            <a:extLst>
              <a:ext uri="{FF2B5EF4-FFF2-40B4-BE49-F238E27FC236}">
                <a16:creationId xmlns:a16="http://schemas.microsoft.com/office/drawing/2014/main" id="{65AD7C56-5ED4-860F-C918-ADF98B84D5E4}"/>
              </a:ext>
            </a:extLst>
          </p:cNvPr>
          <p:cNvSpPr/>
          <p:nvPr/>
        </p:nvSpPr>
        <p:spPr>
          <a:xfrm>
            <a:off x="6291072" y="1691640"/>
            <a:ext cx="51663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0298808-5212-CBC6-88C8-11CE483779A2}"/>
              </a:ext>
            </a:extLst>
          </p:cNvPr>
          <p:cNvSpPr txBox="1"/>
          <p:nvPr/>
        </p:nvSpPr>
        <p:spPr>
          <a:xfrm>
            <a:off x="6752205" y="1783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</a:defRPr>
            </a:pPr>
            <a:r>
              <a:rPr dirty="0"/>
              <a:t>AGE GROUP PERFORMANCE</a:t>
            </a:r>
          </a:p>
        </p:txBody>
      </p:sp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2D7D9B0F-723C-37A0-EF53-DC3FE3B3F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325954"/>
              </p:ext>
            </p:extLst>
          </p:nvPr>
        </p:nvGraphicFramePr>
        <p:xfrm>
          <a:off x="6565392" y="2194560"/>
          <a:ext cx="46177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7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B7280"/>
                          </a:solidFill>
                        </a:defRPr>
                      </a:pPr>
                      <a:r>
                        <a:rPr sz="1200" dirty="0"/>
                        <a:t>AGE GROUP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6B7280"/>
                          </a:solidFill>
                        </a:defRPr>
                      </a:pPr>
                      <a:r>
                        <a:rPr lang="en-US" sz="1200" dirty="0"/>
                        <a:t>           </a:t>
                      </a:r>
                      <a:r>
                        <a:rPr sz="1200" dirty="0"/>
                        <a:t>CUSTOMERS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6B7280"/>
                          </a:solidFill>
                        </a:defRPr>
                      </a:pPr>
                      <a:r>
                        <a:rPr sz="1200" dirty="0"/>
                        <a:t>REVENUE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rPr sz="1200" dirty="0"/>
                        <a:t>18–25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rPr sz="1200" dirty="0"/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rPr sz="1200" dirty="0"/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rPr sz="1200" dirty="0"/>
                        <a:t>26–35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rPr sz="1200" dirty="0"/>
                        <a:t>34.2%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rPr sz="1200" dirty="0"/>
                        <a:t>25.3%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rPr sz="1200" dirty="0"/>
                        <a:t>36–45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rPr sz="1200" dirty="0"/>
                        <a:t>28.9%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rPr sz="1200" dirty="0"/>
                        <a:t>27.5%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rPr sz="1200" dirty="0"/>
                        <a:t>46–55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rPr sz="1200" dirty="0"/>
                        <a:t>10.8%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rPr sz="1200" dirty="0"/>
                        <a:t>14.2%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rPr sz="1200" dirty="0"/>
                        <a:t>★ 55+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rPr sz="1200" dirty="0"/>
                        <a:t>12.8%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rPr sz="1200" dirty="0"/>
                        <a:t>27.8%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Rounded Rectangle 33">
            <a:extLst>
              <a:ext uri="{FF2B5EF4-FFF2-40B4-BE49-F238E27FC236}">
                <a16:creationId xmlns:a16="http://schemas.microsoft.com/office/drawing/2014/main" id="{7ADA112F-0636-A82F-E512-6880E4B2C498}"/>
              </a:ext>
            </a:extLst>
          </p:cNvPr>
          <p:cNvSpPr/>
          <p:nvPr/>
        </p:nvSpPr>
        <p:spPr>
          <a:xfrm>
            <a:off x="6666270" y="5486400"/>
            <a:ext cx="4476339" cy="540774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>
                <a:solidFill>
                  <a:srgbClr val="111827"/>
                </a:solidFill>
              </a:defRPr>
            </a:pPr>
            <a:r>
              <a:rPr dirty="0"/>
              <a:t>💡 </a:t>
            </a:r>
            <a:r>
              <a:rPr lang="en-US" sz="1200" b="1" dirty="0"/>
              <a:t>55+ generates 27.8% of total revenue from only 12.8% of customers, alongside the highest average premium.</a:t>
            </a:r>
            <a:endParaRPr sz="1200" b="1" dirty="0"/>
          </a:p>
        </p:txBody>
      </p:sp>
    </p:spTree>
    <p:extLst>
      <p:ext uri="{BB962C8B-B14F-4D97-AF65-F5344CB8AC3E}">
        <p14:creationId xmlns:p14="http://schemas.microsoft.com/office/powerpoint/2010/main" val="204934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3CAE0A-2578-702C-B4B9-543B7473E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B4D9DE39-35C6-EC64-D0AC-44C291CE6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352425"/>
            <a:ext cx="457200" cy="457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E578254-1FDE-5BE6-21CE-42CA980B8441}"/>
              </a:ext>
            </a:extLst>
          </p:cNvPr>
          <p:cNvSpPr txBox="1"/>
          <p:nvPr/>
        </p:nvSpPr>
        <p:spPr>
          <a:xfrm>
            <a:off x="1000125" y="390525"/>
            <a:ext cx="263781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SHIELD INSURANCE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4A636A4-719D-6670-8DAA-9C8220E4486C}"/>
              </a:ext>
            </a:extLst>
          </p:cNvPr>
          <p:cNvSpPr/>
          <p:nvPr/>
        </p:nvSpPr>
        <p:spPr>
          <a:xfrm>
            <a:off x="466725" y="1047751"/>
            <a:ext cx="11258550" cy="561974"/>
          </a:xfrm>
          <a:prstGeom prst="roundRect">
            <a:avLst/>
          </a:prstGeom>
        </p:spPr>
        <p:style>
          <a:lnRef idx="1">
            <a:schemeClr val="accent1"/>
          </a:lnRef>
          <a:fillRef idx="1001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D4A5091-B694-8B30-A153-A145FEFDB1BD}"/>
              </a:ext>
            </a:extLst>
          </p:cNvPr>
          <p:cNvSpPr txBox="1"/>
          <p:nvPr/>
        </p:nvSpPr>
        <p:spPr>
          <a:xfrm>
            <a:off x="740664" y="1190097"/>
            <a:ext cx="10401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Offline-Agent remains the largest sales mode, but its share is declining steadily as digital channels gain ground.</a:t>
            </a:r>
            <a:endParaRPr lang="en-US" sz="1600" b="1" dirty="0">
              <a:solidFill>
                <a:schemeClr val="bg1"/>
              </a:solidFill>
              <a:latin typeface="Times New Roman"/>
            </a:endParaRP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C0A2C8B4-C9C1-40B3-EF0C-9C4E4E141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742" y="43651"/>
            <a:ext cx="1965040" cy="433353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46B2ADB9-F699-05C3-5C17-34690F1502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943100"/>
            <a:ext cx="5619750" cy="22901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7056E1-EC55-F177-AC6A-9212F6F5A68B}"/>
              </a:ext>
            </a:extLst>
          </p:cNvPr>
          <p:cNvSpPr txBox="1"/>
          <p:nvPr/>
        </p:nvSpPr>
        <p:spPr>
          <a:xfrm>
            <a:off x="790575" y="2126992"/>
            <a:ext cx="50673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1E293B"/>
                </a:solidFill>
                <a:latin typeface="Times New Roman"/>
              </a:rPr>
              <a:t>CURRENT REVENUE MIX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BFEE76-E6DA-D99E-E79A-A8B5CDF54FDA}"/>
              </a:ext>
            </a:extLst>
          </p:cNvPr>
          <p:cNvSpPr txBox="1"/>
          <p:nvPr/>
        </p:nvSpPr>
        <p:spPr>
          <a:xfrm>
            <a:off x="714375" y="2447925"/>
            <a:ext cx="51435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34155"/>
                </a:solidFill>
                <a:latin typeface="Times New Roman SemiBold"/>
              </a:rPr>
              <a:t>Offline-Agent</a:t>
            </a:r>
            <a:r>
              <a:rPr sz="1200" b="1" i="0" u="none" dirty="0">
                <a:solidFill>
                  <a:srgbClr val="000000"/>
                </a:solidFill>
                <a:latin typeface="Times New Roman SemiBold"/>
              </a:rPr>
              <a:t> </a:t>
            </a:r>
            <a:r>
              <a:rPr sz="1200" b="1" i="0" u="none" dirty="0">
                <a:solidFill>
                  <a:srgbClr val="0284C7"/>
                </a:solidFill>
                <a:latin typeface="Times New Roman"/>
              </a:rPr>
              <a:t>55.67%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9D3835-CD71-8CEF-3ED2-2EC77286A78A}"/>
              </a:ext>
            </a:extLst>
          </p:cNvPr>
          <p:cNvSpPr txBox="1"/>
          <p:nvPr/>
        </p:nvSpPr>
        <p:spPr>
          <a:xfrm>
            <a:off x="714375" y="2819400"/>
            <a:ext cx="51435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34155"/>
                </a:solidFill>
                <a:latin typeface="Times New Roman SemiBold"/>
              </a:rPr>
              <a:t>Online-App</a:t>
            </a:r>
            <a:r>
              <a:rPr sz="1200" b="1" i="0" u="none" dirty="0">
                <a:solidFill>
                  <a:srgbClr val="000000"/>
                </a:solidFill>
                <a:latin typeface="Times New Roman SemiBold"/>
              </a:rPr>
              <a:t> </a:t>
            </a:r>
            <a:r>
              <a:rPr sz="1200" b="1" i="0" u="none" dirty="0">
                <a:solidFill>
                  <a:srgbClr val="0284C7"/>
                </a:solidFill>
                <a:latin typeface="Times New Roman"/>
              </a:rPr>
              <a:t>16.27%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7152B1-A29F-516B-34DB-00C74F0588ED}"/>
              </a:ext>
            </a:extLst>
          </p:cNvPr>
          <p:cNvSpPr txBox="1"/>
          <p:nvPr/>
        </p:nvSpPr>
        <p:spPr>
          <a:xfrm>
            <a:off x="714375" y="3562350"/>
            <a:ext cx="51435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34155"/>
                </a:solidFill>
                <a:latin typeface="Times New Roman SemiBold"/>
              </a:rPr>
              <a:t>Online-Website</a:t>
            </a:r>
            <a:r>
              <a:rPr sz="1200" b="1" i="0" u="none" dirty="0">
                <a:solidFill>
                  <a:srgbClr val="000000"/>
                </a:solidFill>
                <a:latin typeface="Times New Roman SemiBold"/>
              </a:rPr>
              <a:t> </a:t>
            </a:r>
            <a:r>
              <a:rPr sz="1200" b="1" i="0" u="none" dirty="0">
                <a:solidFill>
                  <a:srgbClr val="0284C7"/>
                </a:solidFill>
                <a:latin typeface="Times New Roman"/>
              </a:rPr>
              <a:t>12.60%</a:t>
            </a:r>
          </a:p>
        </p:txBody>
      </p:sp>
      <p:sp>
        <p:nvSpPr>
          <p:cNvPr id="25" name="Rounded Rectangle 26">
            <a:extLst>
              <a:ext uri="{FF2B5EF4-FFF2-40B4-BE49-F238E27FC236}">
                <a16:creationId xmlns:a16="http://schemas.microsoft.com/office/drawing/2014/main" id="{2C5A830C-03B6-0B5B-701E-0B1DDB9E58C4}"/>
              </a:ext>
            </a:extLst>
          </p:cNvPr>
          <p:cNvSpPr/>
          <p:nvPr/>
        </p:nvSpPr>
        <p:spPr>
          <a:xfrm>
            <a:off x="714375" y="2687895"/>
            <a:ext cx="2863304" cy="762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7">
            <a:extLst>
              <a:ext uri="{FF2B5EF4-FFF2-40B4-BE49-F238E27FC236}">
                <a16:creationId xmlns:a16="http://schemas.microsoft.com/office/drawing/2014/main" id="{E4E39538-BC26-A0CF-ECBE-620FCC6A2DE2}"/>
              </a:ext>
            </a:extLst>
          </p:cNvPr>
          <p:cNvSpPr/>
          <p:nvPr/>
        </p:nvSpPr>
        <p:spPr>
          <a:xfrm>
            <a:off x="714375" y="3050097"/>
            <a:ext cx="836711" cy="76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8">
            <a:extLst>
              <a:ext uri="{FF2B5EF4-FFF2-40B4-BE49-F238E27FC236}">
                <a16:creationId xmlns:a16="http://schemas.microsoft.com/office/drawing/2014/main" id="{F369598B-B483-D189-690E-162146DA0115}"/>
              </a:ext>
            </a:extLst>
          </p:cNvPr>
          <p:cNvSpPr/>
          <p:nvPr/>
        </p:nvSpPr>
        <p:spPr>
          <a:xfrm>
            <a:off x="714375" y="3371850"/>
            <a:ext cx="795039" cy="11729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29">
            <a:extLst>
              <a:ext uri="{FF2B5EF4-FFF2-40B4-BE49-F238E27FC236}">
                <a16:creationId xmlns:a16="http://schemas.microsoft.com/office/drawing/2014/main" id="{8C3F9E70-EAB5-787A-C03D-A9480F23F824}"/>
              </a:ext>
            </a:extLst>
          </p:cNvPr>
          <p:cNvSpPr/>
          <p:nvPr/>
        </p:nvSpPr>
        <p:spPr>
          <a:xfrm>
            <a:off x="714375" y="3781425"/>
            <a:ext cx="647997" cy="76200"/>
          </a:xfrm>
          <a:prstGeom prst="roundRect">
            <a:avLst>
              <a:gd name="adj" fmla="val 50000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>
            <a:extLst>
              <a:ext uri="{FF2B5EF4-FFF2-40B4-BE49-F238E27FC236}">
                <a16:creationId xmlns:a16="http://schemas.microsoft.com/office/drawing/2014/main" id="{4C91A2FA-82CB-1796-83FD-60DFFAE33F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4714" y="1966344"/>
            <a:ext cx="5619750" cy="2266950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88BD7309-B3B2-B1C4-3595-26B0B30CB7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1636" y="2147648"/>
            <a:ext cx="5619749" cy="215327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5FC9C53C-49A4-5F7B-C23D-C85E55565CCF}"/>
              </a:ext>
            </a:extLst>
          </p:cNvPr>
          <p:cNvSpPr txBox="1"/>
          <p:nvPr/>
        </p:nvSpPr>
        <p:spPr>
          <a:xfrm>
            <a:off x="7049729" y="198257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u="none" dirty="0">
                <a:solidFill>
                  <a:srgbClr val="1E293B"/>
                </a:solidFill>
                <a:latin typeface="Times New Roman"/>
              </a:rPr>
              <a:t>MONTHLY SALES MODE TREND</a:t>
            </a:r>
          </a:p>
        </p:txBody>
      </p:sp>
      <p:sp>
        <p:nvSpPr>
          <p:cNvPr id="49" name="Rounded Rectangle 30">
            <a:extLst>
              <a:ext uri="{FF2B5EF4-FFF2-40B4-BE49-F238E27FC236}">
                <a16:creationId xmlns:a16="http://schemas.microsoft.com/office/drawing/2014/main" id="{F81A8784-E58F-58AE-A910-B0587188386A}"/>
              </a:ext>
            </a:extLst>
          </p:cNvPr>
          <p:cNvSpPr/>
          <p:nvPr/>
        </p:nvSpPr>
        <p:spPr>
          <a:xfrm>
            <a:off x="9814917" y="2295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31">
            <a:extLst>
              <a:ext uri="{FF2B5EF4-FFF2-40B4-BE49-F238E27FC236}">
                <a16:creationId xmlns:a16="http://schemas.microsoft.com/office/drawing/2014/main" id="{40ECB011-8C06-B3A0-B1BE-370DE7F294A9}"/>
              </a:ext>
            </a:extLst>
          </p:cNvPr>
          <p:cNvSpPr/>
          <p:nvPr/>
        </p:nvSpPr>
        <p:spPr>
          <a:xfrm>
            <a:off x="11066409" y="2277706"/>
            <a:ext cx="76200" cy="762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05C45E-E74A-1EF4-7680-E5849489401C}"/>
              </a:ext>
            </a:extLst>
          </p:cNvPr>
          <p:cNvSpPr txBox="1"/>
          <p:nvPr/>
        </p:nvSpPr>
        <p:spPr>
          <a:xfrm>
            <a:off x="630615" y="3120588"/>
            <a:ext cx="65728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u="none" dirty="0">
                <a:solidFill>
                  <a:srgbClr val="334155"/>
                </a:solidFill>
                <a:latin typeface="Times New Roman SemiBold"/>
              </a:rPr>
              <a:t>Offline-Direct</a:t>
            </a:r>
            <a:r>
              <a:rPr lang="en-US" sz="1200" b="1" i="0" u="none" dirty="0">
                <a:solidFill>
                  <a:srgbClr val="000000"/>
                </a:solidFill>
                <a:latin typeface="Times New Roman SemiBold"/>
              </a:rPr>
              <a:t> </a:t>
            </a:r>
            <a:r>
              <a:rPr lang="en-US" sz="1200" b="1" i="0" u="none" dirty="0">
                <a:solidFill>
                  <a:srgbClr val="0284C7"/>
                </a:solidFill>
                <a:latin typeface="Times New Roman"/>
              </a:rPr>
              <a:t>15.46%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0C61F5-2100-4088-EEDE-5D8BB5A1DA51}"/>
              </a:ext>
            </a:extLst>
          </p:cNvPr>
          <p:cNvSpPr txBox="1"/>
          <p:nvPr/>
        </p:nvSpPr>
        <p:spPr>
          <a:xfrm>
            <a:off x="494071" y="4570003"/>
            <a:ext cx="6572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u="none" dirty="0">
                <a:solidFill>
                  <a:srgbClr val="1E293B"/>
                </a:solidFill>
                <a:latin typeface="Times New Roman"/>
              </a:rPr>
              <a:t>CHANNEL SHIFT (NOV-22 VS APR-23)</a:t>
            </a:r>
          </a:p>
        </p:txBody>
      </p:sp>
      <p:pic>
        <p:nvPicPr>
          <p:cNvPr id="62" name="Picture 61" descr="image.png">
            <a:extLst>
              <a:ext uri="{FF2B5EF4-FFF2-40B4-BE49-F238E27FC236}">
                <a16:creationId xmlns:a16="http://schemas.microsoft.com/office/drawing/2014/main" id="{07619932-22A7-44B4-EFD4-C6092371DF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615" y="5092885"/>
            <a:ext cx="5619750" cy="36195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28E3A139-ED8E-913F-567A-DAFD194ADBCB}"/>
              </a:ext>
            </a:extLst>
          </p:cNvPr>
          <p:cNvSpPr txBox="1"/>
          <p:nvPr/>
        </p:nvSpPr>
        <p:spPr>
          <a:xfrm>
            <a:off x="695324" y="5203888"/>
            <a:ext cx="104498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334155"/>
                </a:solidFill>
                <a:latin typeface="Times New Roman"/>
              </a:rPr>
              <a:t>Offline-Agent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F54F8B1-E1BF-F383-EE60-03A35F3E4AD5}"/>
              </a:ext>
            </a:extLst>
          </p:cNvPr>
          <p:cNvSpPr txBox="1"/>
          <p:nvPr/>
        </p:nvSpPr>
        <p:spPr>
          <a:xfrm>
            <a:off x="4531645" y="5168408"/>
            <a:ext cx="14099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u="none" dirty="0">
                <a:solidFill>
                  <a:srgbClr val="64748B"/>
                </a:solidFill>
                <a:latin typeface="Times New Roman"/>
              </a:rPr>
              <a:t>63.6%    </a:t>
            </a:r>
            <a:r>
              <a:rPr lang="en-US" sz="1200" b="1" i="0" u="none" dirty="0">
                <a:solidFill>
                  <a:srgbClr val="000000"/>
                </a:solidFill>
                <a:latin typeface="Times New Roman"/>
              </a:rPr>
              <a:t>     </a:t>
            </a:r>
            <a:r>
              <a:rPr lang="en-US" sz="1200" b="1" i="0" u="none" dirty="0">
                <a:solidFill>
                  <a:srgbClr val="E11D48"/>
                </a:solidFill>
                <a:latin typeface="Times New Roman ExtraBold"/>
              </a:rPr>
              <a:t>44.8%</a:t>
            </a:r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99411863-9E19-5DEC-4860-CDB3668EA8AE}"/>
              </a:ext>
            </a:extLst>
          </p:cNvPr>
          <p:cNvSpPr/>
          <p:nvPr/>
        </p:nvSpPr>
        <p:spPr>
          <a:xfrm flipV="1">
            <a:off x="5148149" y="5214489"/>
            <a:ext cx="176981" cy="14791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BEB4A00-9BFB-914F-DCEA-EB97DB8147D2}"/>
              </a:ext>
            </a:extLst>
          </p:cNvPr>
          <p:cNvSpPr txBox="1"/>
          <p:nvPr/>
        </p:nvSpPr>
        <p:spPr>
          <a:xfrm>
            <a:off x="10412364" y="5198117"/>
            <a:ext cx="18484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u="none" dirty="0">
                <a:solidFill>
                  <a:srgbClr val="64748B"/>
                </a:solidFill>
                <a:latin typeface="Times New Roman"/>
              </a:rPr>
              <a:t>6.1%          </a:t>
            </a:r>
            <a:r>
              <a:rPr lang="en-US" sz="1200" b="1" i="0" u="none" dirty="0">
                <a:solidFill>
                  <a:srgbClr val="E11D48"/>
                </a:solidFill>
                <a:latin typeface="Times New Roman ExtraBold"/>
              </a:rPr>
              <a:t>35</a:t>
            </a:r>
            <a:r>
              <a:rPr lang="en-US" sz="1200" dirty="0">
                <a:solidFill>
                  <a:srgbClr val="E11D48"/>
                </a:solidFill>
                <a:latin typeface="Times New Roman ExtraBold"/>
              </a:rPr>
              <a:t>.0</a:t>
            </a:r>
            <a:r>
              <a:rPr lang="en-US" sz="1200" b="1" i="0" u="none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1200" b="0" i="0" u="none" dirty="0">
                <a:solidFill>
                  <a:srgbClr val="E11D48"/>
                </a:solidFill>
                <a:latin typeface="Times New Roman ExtraBold"/>
              </a:rPr>
              <a:t>%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F2BF3B8-FF7B-427C-2680-8828C38F3405}"/>
              </a:ext>
            </a:extLst>
          </p:cNvPr>
          <p:cNvSpPr txBox="1"/>
          <p:nvPr/>
        </p:nvSpPr>
        <p:spPr>
          <a:xfrm>
            <a:off x="7125932" y="5141027"/>
            <a:ext cx="65728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u="none" dirty="0">
                <a:solidFill>
                  <a:srgbClr val="0284C7"/>
                </a:solidFill>
                <a:latin typeface="Times New Roman"/>
              </a:rPr>
              <a:t>Digital (App + Website)</a:t>
            </a:r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BCF81137-338E-C0DF-FE8D-E6EE1D73C506}"/>
              </a:ext>
            </a:extLst>
          </p:cNvPr>
          <p:cNvSpPr/>
          <p:nvPr/>
        </p:nvSpPr>
        <p:spPr>
          <a:xfrm flipV="1">
            <a:off x="10977918" y="5262656"/>
            <a:ext cx="176981" cy="14791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470CBCD-B412-0A60-6E45-AE087F4E050B}"/>
              </a:ext>
            </a:extLst>
          </p:cNvPr>
          <p:cNvSpPr/>
          <p:nvPr/>
        </p:nvSpPr>
        <p:spPr>
          <a:xfrm>
            <a:off x="476250" y="4577994"/>
            <a:ext cx="11428214" cy="1240246"/>
          </a:xfrm>
          <a:prstGeom prst="round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32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C61A0-7206-2227-C969-7137822E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0E8C264F-0965-DEC8-5688-6BE8C0E90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352425"/>
            <a:ext cx="457200" cy="457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0988EA8-E78C-1603-74D9-F1EF24BAA44E}"/>
              </a:ext>
            </a:extLst>
          </p:cNvPr>
          <p:cNvSpPr txBox="1"/>
          <p:nvPr/>
        </p:nvSpPr>
        <p:spPr>
          <a:xfrm>
            <a:off x="1000125" y="390525"/>
            <a:ext cx="263781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SHIELD INSURANCE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E6D33C1-C444-F4E7-AD66-39C381F1001B}"/>
              </a:ext>
            </a:extLst>
          </p:cNvPr>
          <p:cNvSpPr/>
          <p:nvPr/>
        </p:nvSpPr>
        <p:spPr>
          <a:xfrm>
            <a:off x="466725" y="1077035"/>
            <a:ext cx="11258550" cy="561974"/>
          </a:xfrm>
          <a:prstGeom prst="roundRect">
            <a:avLst/>
          </a:prstGeom>
        </p:spPr>
        <p:style>
          <a:lnRef idx="1">
            <a:schemeClr val="accent1"/>
          </a:lnRef>
          <a:fillRef idx="1001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1E663C0-F5DF-C55F-3B5A-83A4E2B01636}"/>
              </a:ext>
            </a:extLst>
          </p:cNvPr>
          <p:cNvSpPr txBox="1"/>
          <p:nvPr/>
        </p:nvSpPr>
        <p:spPr>
          <a:xfrm>
            <a:off x="588571" y="1122896"/>
            <a:ext cx="111367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CUSTOMER VALUE INCREASES WITH AGE: 55+ HAS THE HIGHEST AVERAGE PREMIUM AND EXPECTED SETTLEMENT RATE, WHILE 26–35 REMAINS THE LARGEST CUSTOMER SEGMENT.</a:t>
            </a:r>
          </a:p>
          <a:p>
            <a:endParaRPr lang="en-US" sz="1600" b="1" dirty="0">
              <a:solidFill>
                <a:schemeClr val="bg1"/>
              </a:solidFill>
              <a:latin typeface="Times New Roman"/>
            </a:endParaRPr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3D5ABDB6-9AF9-3838-EFE9-484AA63A47BC}"/>
              </a:ext>
            </a:extLst>
          </p:cNvPr>
          <p:cNvSpPr/>
          <p:nvPr/>
        </p:nvSpPr>
        <p:spPr>
          <a:xfrm>
            <a:off x="4621164" y="96717"/>
            <a:ext cx="2241752" cy="365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400" dirty="0"/>
              <a:t>CUSTOMER BEHAVIOR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854CF276-EEDB-8205-185D-2F003D75F059}"/>
              </a:ext>
            </a:extLst>
          </p:cNvPr>
          <p:cNvSpPr/>
          <p:nvPr/>
        </p:nvSpPr>
        <p:spPr>
          <a:xfrm>
            <a:off x="731520" y="1721108"/>
            <a:ext cx="51663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BB4AB1-C9B6-150C-6D4A-0A466CE11900}"/>
              </a:ext>
            </a:extLst>
          </p:cNvPr>
          <p:cNvSpPr txBox="1"/>
          <p:nvPr/>
        </p:nvSpPr>
        <p:spPr>
          <a:xfrm>
            <a:off x="1325879" y="1892337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</a:defRPr>
            </a:pPr>
            <a:r>
              <a:rPr dirty="0"/>
              <a:t>CUSTOMER SEGMENT SIZE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410F23-0836-7101-5528-65BE4A7BD967}"/>
              </a:ext>
            </a:extLst>
          </p:cNvPr>
          <p:cNvSpPr txBox="1"/>
          <p:nvPr/>
        </p:nvSpPr>
        <p:spPr>
          <a:xfrm>
            <a:off x="1005840" y="23317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Arial"/>
              </a:defRPr>
            </a:pPr>
            <a:r>
              <a:rPr dirty="0"/>
              <a:t>26–35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FA03A2-3EAD-0039-561C-9E9B609D8F18}"/>
              </a:ext>
            </a:extLst>
          </p:cNvPr>
          <p:cNvSpPr txBox="1"/>
          <p:nvPr/>
        </p:nvSpPr>
        <p:spPr>
          <a:xfrm>
            <a:off x="1920240" y="23317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0284C7"/>
                </a:solidFill>
                <a:latin typeface="Arial"/>
              </a:defRPr>
            </a:pPr>
            <a:r>
              <a:rPr dirty="0"/>
              <a:t>9,168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5B957E-E77D-A7C2-1B2D-66F4C23ED8FF}"/>
              </a:ext>
            </a:extLst>
          </p:cNvPr>
          <p:cNvSpPr txBox="1"/>
          <p:nvPr/>
        </p:nvSpPr>
        <p:spPr>
          <a:xfrm>
            <a:off x="4709160" y="23317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  <a:latin typeface="Arial"/>
              </a:defRPr>
            </a:pPr>
            <a:r>
              <a:t>34.2%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C9B78644-FDD4-AD1D-F255-810AF5F8E295}"/>
              </a:ext>
            </a:extLst>
          </p:cNvPr>
          <p:cNvSpPr/>
          <p:nvPr/>
        </p:nvSpPr>
        <p:spPr>
          <a:xfrm>
            <a:off x="1005840" y="2624328"/>
            <a:ext cx="4617720" cy="128016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10">
            <a:extLst>
              <a:ext uri="{FF2B5EF4-FFF2-40B4-BE49-F238E27FC236}">
                <a16:creationId xmlns:a16="http://schemas.microsoft.com/office/drawing/2014/main" id="{CFEF1F6E-6265-50FF-9D41-4F05EBD669A4}"/>
              </a:ext>
            </a:extLst>
          </p:cNvPr>
          <p:cNvSpPr/>
          <p:nvPr/>
        </p:nvSpPr>
        <p:spPr>
          <a:xfrm>
            <a:off x="1005840" y="2624328"/>
            <a:ext cx="3291840" cy="12801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0A1CC2-7866-807E-AF92-40BCC8B73BD4}"/>
              </a:ext>
            </a:extLst>
          </p:cNvPr>
          <p:cNvSpPr txBox="1"/>
          <p:nvPr/>
        </p:nvSpPr>
        <p:spPr>
          <a:xfrm>
            <a:off x="1005840" y="30632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36–45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A2E0D0-364D-8577-BF95-A6AE1DF8F5D3}"/>
              </a:ext>
            </a:extLst>
          </p:cNvPr>
          <p:cNvSpPr txBox="1"/>
          <p:nvPr/>
        </p:nvSpPr>
        <p:spPr>
          <a:xfrm>
            <a:off x="1920240" y="30632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Arial"/>
              </a:defRPr>
            </a:pPr>
            <a:r>
              <a:t>7,755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508538-81A7-7A94-138F-7A5A038BC873}"/>
              </a:ext>
            </a:extLst>
          </p:cNvPr>
          <p:cNvSpPr txBox="1"/>
          <p:nvPr/>
        </p:nvSpPr>
        <p:spPr>
          <a:xfrm>
            <a:off x="4709160" y="30632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  <a:latin typeface="Arial"/>
              </a:defRPr>
            </a:pPr>
            <a:r>
              <a:t>28.9%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B32F1C9D-2D17-238D-C29D-36CEF30150EF}"/>
              </a:ext>
            </a:extLst>
          </p:cNvPr>
          <p:cNvSpPr/>
          <p:nvPr/>
        </p:nvSpPr>
        <p:spPr>
          <a:xfrm>
            <a:off x="1005840" y="3355848"/>
            <a:ext cx="4617720" cy="128016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15">
            <a:extLst>
              <a:ext uri="{FF2B5EF4-FFF2-40B4-BE49-F238E27FC236}">
                <a16:creationId xmlns:a16="http://schemas.microsoft.com/office/drawing/2014/main" id="{48EAD3C6-92D7-661B-5F0D-7039CB6F39D8}"/>
              </a:ext>
            </a:extLst>
          </p:cNvPr>
          <p:cNvSpPr/>
          <p:nvPr/>
        </p:nvSpPr>
        <p:spPr>
          <a:xfrm>
            <a:off x="1005840" y="3355848"/>
            <a:ext cx="2743200" cy="12801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14161C-3804-75B8-98E6-E518031EE6FA}"/>
              </a:ext>
            </a:extLst>
          </p:cNvPr>
          <p:cNvSpPr txBox="1"/>
          <p:nvPr/>
        </p:nvSpPr>
        <p:spPr>
          <a:xfrm>
            <a:off x="1005840" y="37947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18–25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9FA00A-BAB6-AC99-9872-54CFD67A8D0D}"/>
              </a:ext>
            </a:extLst>
          </p:cNvPr>
          <p:cNvSpPr txBox="1"/>
          <p:nvPr/>
        </p:nvSpPr>
        <p:spPr>
          <a:xfrm>
            <a:off x="1920240" y="37947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Arial"/>
              </a:defRPr>
            </a:pPr>
            <a:r>
              <a:t>3,563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41AB81C-F191-7FFB-DD7E-E4A6CDD0A88C}"/>
              </a:ext>
            </a:extLst>
          </p:cNvPr>
          <p:cNvSpPr txBox="1"/>
          <p:nvPr/>
        </p:nvSpPr>
        <p:spPr>
          <a:xfrm>
            <a:off x="4709160" y="37947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  <a:latin typeface="Arial"/>
              </a:defRPr>
            </a:pPr>
            <a:r>
              <a:t>13.3%</a:t>
            </a:r>
          </a:p>
        </p:txBody>
      </p:sp>
      <p:sp>
        <p:nvSpPr>
          <p:cNvPr id="53" name="Rounded Rectangle 19">
            <a:extLst>
              <a:ext uri="{FF2B5EF4-FFF2-40B4-BE49-F238E27FC236}">
                <a16:creationId xmlns:a16="http://schemas.microsoft.com/office/drawing/2014/main" id="{5CE68745-6510-DDDB-2B59-2A7F28495F68}"/>
              </a:ext>
            </a:extLst>
          </p:cNvPr>
          <p:cNvSpPr/>
          <p:nvPr/>
        </p:nvSpPr>
        <p:spPr>
          <a:xfrm>
            <a:off x="1005840" y="4087368"/>
            <a:ext cx="4617720" cy="128016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20">
            <a:extLst>
              <a:ext uri="{FF2B5EF4-FFF2-40B4-BE49-F238E27FC236}">
                <a16:creationId xmlns:a16="http://schemas.microsoft.com/office/drawing/2014/main" id="{D826F402-064C-B59A-BA26-61A30705D734}"/>
              </a:ext>
            </a:extLst>
          </p:cNvPr>
          <p:cNvSpPr/>
          <p:nvPr/>
        </p:nvSpPr>
        <p:spPr>
          <a:xfrm>
            <a:off x="1005840" y="4087368"/>
            <a:ext cx="1280160" cy="12801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E2E0A5-9BB8-BE5F-8013-9C5D5102DA50}"/>
              </a:ext>
            </a:extLst>
          </p:cNvPr>
          <p:cNvSpPr txBox="1"/>
          <p:nvPr/>
        </p:nvSpPr>
        <p:spPr>
          <a:xfrm>
            <a:off x="1005840" y="45262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55+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11EF6-A7C0-2798-798A-F0F9E19C7D01}"/>
              </a:ext>
            </a:extLst>
          </p:cNvPr>
          <p:cNvSpPr txBox="1"/>
          <p:nvPr/>
        </p:nvSpPr>
        <p:spPr>
          <a:xfrm>
            <a:off x="1920240" y="45262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Arial"/>
              </a:defRPr>
            </a:pPr>
            <a:r>
              <a:t>3,447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BFD95A-50E9-5D0D-1E19-EC4FBBA5B898}"/>
              </a:ext>
            </a:extLst>
          </p:cNvPr>
          <p:cNvSpPr txBox="1"/>
          <p:nvPr/>
        </p:nvSpPr>
        <p:spPr>
          <a:xfrm>
            <a:off x="4709160" y="45262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  <a:latin typeface="Arial"/>
              </a:defRPr>
            </a:pPr>
            <a:r>
              <a:t>12.8%</a:t>
            </a:r>
          </a:p>
        </p:txBody>
      </p:sp>
      <p:sp>
        <p:nvSpPr>
          <p:cNvPr id="67" name="Rounded Rectangle 24">
            <a:extLst>
              <a:ext uri="{FF2B5EF4-FFF2-40B4-BE49-F238E27FC236}">
                <a16:creationId xmlns:a16="http://schemas.microsoft.com/office/drawing/2014/main" id="{A0D61610-6E08-BFDF-2115-1967D9883D97}"/>
              </a:ext>
            </a:extLst>
          </p:cNvPr>
          <p:cNvSpPr/>
          <p:nvPr/>
        </p:nvSpPr>
        <p:spPr>
          <a:xfrm>
            <a:off x="1005840" y="4818888"/>
            <a:ext cx="4617720" cy="128016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25">
            <a:extLst>
              <a:ext uri="{FF2B5EF4-FFF2-40B4-BE49-F238E27FC236}">
                <a16:creationId xmlns:a16="http://schemas.microsoft.com/office/drawing/2014/main" id="{7C26111B-0B62-5C99-28E9-E80DE5D3A012}"/>
              </a:ext>
            </a:extLst>
          </p:cNvPr>
          <p:cNvSpPr/>
          <p:nvPr/>
        </p:nvSpPr>
        <p:spPr>
          <a:xfrm>
            <a:off x="1005840" y="4818888"/>
            <a:ext cx="1188720" cy="12801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0EBEBE3-097B-AB47-DC86-F7D6CD9DE19B}"/>
              </a:ext>
            </a:extLst>
          </p:cNvPr>
          <p:cNvSpPr txBox="1"/>
          <p:nvPr/>
        </p:nvSpPr>
        <p:spPr>
          <a:xfrm>
            <a:off x="1005840" y="5257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46–55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6EC56C5-C9DC-B394-0801-87EB34576579}"/>
              </a:ext>
            </a:extLst>
          </p:cNvPr>
          <p:cNvSpPr txBox="1"/>
          <p:nvPr/>
        </p:nvSpPr>
        <p:spPr>
          <a:xfrm>
            <a:off x="1920240" y="5257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Arial"/>
              </a:defRPr>
            </a:pPr>
            <a:r>
              <a:t>2,908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AEDC676-B181-27CC-FB84-54F7DDFD2CAF}"/>
              </a:ext>
            </a:extLst>
          </p:cNvPr>
          <p:cNvSpPr txBox="1"/>
          <p:nvPr/>
        </p:nvSpPr>
        <p:spPr>
          <a:xfrm>
            <a:off x="4709160" y="5257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  <a:latin typeface="Arial"/>
              </a:defRPr>
            </a:pPr>
            <a:r>
              <a:t>10.8%</a:t>
            </a:r>
          </a:p>
        </p:txBody>
      </p:sp>
      <p:sp>
        <p:nvSpPr>
          <p:cNvPr id="82" name="Rounded Rectangle 29">
            <a:extLst>
              <a:ext uri="{FF2B5EF4-FFF2-40B4-BE49-F238E27FC236}">
                <a16:creationId xmlns:a16="http://schemas.microsoft.com/office/drawing/2014/main" id="{25B1F0CC-6C14-81E6-F34F-D60F4465B1A0}"/>
              </a:ext>
            </a:extLst>
          </p:cNvPr>
          <p:cNvSpPr/>
          <p:nvPr/>
        </p:nvSpPr>
        <p:spPr>
          <a:xfrm>
            <a:off x="1005840" y="5550408"/>
            <a:ext cx="4617720" cy="128016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30">
            <a:extLst>
              <a:ext uri="{FF2B5EF4-FFF2-40B4-BE49-F238E27FC236}">
                <a16:creationId xmlns:a16="http://schemas.microsoft.com/office/drawing/2014/main" id="{FE2DD60F-78A5-7342-0055-8F2261B040DF}"/>
              </a:ext>
            </a:extLst>
          </p:cNvPr>
          <p:cNvSpPr/>
          <p:nvPr/>
        </p:nvSpPr>
        <p:spPr>
          <a:xfrm>
            <a:off x="1005840" y="5550408"/>
            <a:ext cx="1005840" cy="12801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31">
            <a:extLst>
              <a:ext uri="{FF2B5EF4-FFF2-40B4-BE49-F238E27FC236}">
                <a16:creationId xmlns:a16="http://schemas.microsoft.com/office/drawing/2014/main" id="{D79CC0D7-6E52-B433-BD1E-0CF2C6FD906D}"/>
              </a:ext>
            </a:extLst>
          </p:cNvPr>
          <p:cNvSpPr/>
          <p:nvPr/>
        </p:nvSpPr>
        <p:spPr>
          <a:xfrm>
            <a:off x="6228397" y="1721108"/>
            <a:ext cx="51663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190CED5-72FF-F6C4-ECEB-E0AAF7DCC06F}"/>
              </a:ext>
            </a:extLst>
          </p:cNvPr>
          <p:cNvSpPr txBox="1"/>
          <p:nvPr/>
        </p:nvSpPr>
        <p:spPr>
          <a:xfrm>
            <a:off x="6862916" y="18708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</a:defRPr>
            </a:pPr>
            <a:r>
              <a:rPr dirty="0"/>
              <a:t>CUSTOMER VALUE &amp; SETTLEMENT</a:t>
            </a:r>
          </a:p>
        </p:txBody>
      </p:sp>
      <p:graphicFrame>
        <p:nvGraphicFramePr>
          <p:cNvPr id="92" name="Table 91">
            <a:extLst>
              <a:ext uri="{FF2B5EF4-FFF2-40B4-BE49-F238E27FC236}">
                <a16:creationId xmlns:a16="http://schemas.microsoft.com/office/drawing/2014/main" id="{E35B6757-5144-6A3B-B229-0A6DF2FDD13C}"/>
              </a:ext>
            </a:extLst>
          </p:cNvPr>
          <p:cNvGraphicFramePr>
            <a:graphicFrameLocks noGrp="1"/>
          </p:cNvGraphicFramePr>
          <p:nvPr/>
        </p:nvGraphicFramePr>
        <p:xfrm>
          <a:off x="6565392" y="2240280"/>
          <a:ext cx="46177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B7280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6B7280"/>
                          </a:solidFill>
                        </a:defRPr>
                      </a:pPr>
                      <a:r>
                        <a:t>AVG PREMIUM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6B7280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18–25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₹14,897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38.14%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26–35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₹27,219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48.72%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36–45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₹35,074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57.90%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46–55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₹48,187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62.78%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★ 55+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₹79,635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71.98%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17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CEA6A8-35C5-7AE7-8A60-4166FC393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557688B1-4B5E-10AF-AA3E-7901C8B3C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352425"/>
            <a:ext cx="457200" cy="457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79475C4-2D09-4DB5-F57E-73FBF2A9A624}"/>
              </a:ext>
            </a:extLst>
          </p:cNvPr>
          <p:cNvSpPr txBox="1"/>
          <p:nvPr/>
        </p:nvSpPr>
        <p:spPr>
          <a:xfrm>
            <a:off x="1000125" y="390525"/>
            <a:ext cx="263781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SHIELD INSURANCE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98DE210-3BE2-95B1-3DFC-B2D859C644C5}"/>
              </a:ext>
            </a:extLst>
          </p:cNvPr>
          <p:cNvSpPr/>
          <p:nvPr/>
        </p:nvSpPr>
        <p:spPr>
          <a:xfrm>
            <a:off x="466725" y="1077035"/>
            <a:ext cx="11258550" cy="561974"/>
          </a:xfrm>
          <a:prstGeom prst="roundRect">
            <a:avLst/>
          </a:prstGeom>
        </p:spPr>
        <p:style>
          <a:lnRef idx="1">
            <a:schemeClr val="accent1"/>
          </a:lnRef>
          <a:fillRef idx="1001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A2EFBAF-76C0-5735-9D53-85462B5C465E}"/>
              </a:ext>
            </a:extLst>
          </p:cNvPr>
          <p:cNvSpPr txBox="1"/>
          <p:nvPr/>
        </p:nvSpPr>
        <p:spPr>
          <a:xfrm>
            <a:off x="598403" y="1201554"/>
            <a:ext cx="111367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PRIORITIZE DIGITAL GROWTH, PROTECT HIGH-VALUE CUSTOMERS, AND DEEPEN THE STRONGEST MARKETS AND SEGMENTS.</a:t>
            </a:r>
          </a:p>
          <a:p>
            <a:endParaRPr lang="en-US" sz="1600" b="1" dirty="0">
              <a:solidFill>
                <a:schemeClr val="bg1"/>
              </a:solidFill>
              <a:latin typeface="Times New Roman"/>
            </a:endParaRP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5582FC51-9C5D-AFC9-A655-886F82461A64}"/>
              </a:ext>
            </a:extLst>
          </p:cNvPr>
          <p:cNvSpPr/>
          <p:nvPr/>
        </p:nvSpPr>
        <p:spPr>
          <a:xfrm>
            <a:off x="4608576" y="123825"/>
            <a:ext cx="3075630" cy="457199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400" dirty="0"/>
              <a:t>RECOMMENDATIONS &amp; NEXT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2068FA76-91CD-1FCB-889A-D68F51E64086}"/>
              </a:ext>
            </a:extLst>
          </p:cNvPr>
          <p:cNvSpPr/>
          <p:nvPr/>
        </p:nvSpPr>
        <p:spPr>
          <a:xfrm>
            <a:off x="731520" y="1690236"/>
            <a:ext cx="3328416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63C57130-1A4F-95F7-D237-63C2EB3278E8}"/>
              </a:ext>
            </a:extLst>
          </p:cNvPr>
          <p:cNvSpPr/>
          <p:nvPr/>
        </p:nvSpPr>
        <p:spPr>
          <a:xfrm>
            <a:off x="960120" y="1851887"/>
            <a:ext cx="5486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rPr dirty="0"/>
              <a:t>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7C54E4-450A-6C49-8640-BEB751B17AB9}"/>
              </a:ext>
            </a:extLst>
          </p:cNvPr>
          <p:cNvSpPr txBox="1"/>
          <p:nvPr/>
        </p:nvSpPr>
        <p:spPr>
          <a:xfrm>
            <a:off x="1600200" y="1890469"/>
            <a:ext cx="22768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Arial"/>
              </a:defRPr>
            </a:pPr>
            <a:r>
              <a:rPr sz="1400" dirty="0"/>
              <a:t>CHANNEL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534ACC-1BDA-2ECC-F8FA-3EC80CD405BB}"/>
              </a:ext>
            </a:extLst>
          </p:cNvPr>
          <p:cNvSpPr txBox="1"/>
          <p:nvPr/>
        </p:nvSpPr>
        <p:spPr>
          <a:xfrm>
            <a:off x="960120" y="2286000"/>
            <a:ext cx="287121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</a:defRPr>
            </a:pPr>
            <a:r>
              <a:rPr sz="1200" dirty="0"/>
              <a:t>ACCELERATE DIGITAL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C2E2BF-86BF-8CDD-209A-1F6E8144330B}"/>
              </a:ext>
            </a:extLst>
          </p:cNvPr>
          <p:cNvSpPr txBox="1"/>
          <p:nvPr/>
        </p:nvSpPr>
        <p:spPr>
          <a:xfrm>
            <a:off x="960120" y="2651760"/>
            <a:ext cx="2871216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100" b="1" dirty="0"/>
              <a:t>Use the strong upward movement in Online-App and Online-Website share to expand digital adoption while maintaining Offline-Agent as an important channel.</a:t>
            </a:r>
          </a:p>
        </p:txBody>
      </p:sp>
      <p:sp>
        <p:nvSpPr>
          <p:cNvPr id="27" name="Rounded Rectangle 9">
            <a:extLst>
              <a:ext uri="{FF2B5EF4-FFF2-40B4-BE49-F238E27FC236}">
                <a16:creationId xmlns:a16="http://schemas.microsoft.com/office/drawing/2014/main" id="{620A4E7D-66D6-0FCA-678F-0FACE19803A9}"/>
              </a:ext>
            </a:extLst>
          </p:cNvPr>
          <p:cNvSpPr/>
          <p:nvPr/>
        </p:nvSpPr>
        <p:spPr>
          <a:xfrm>
            <a:off x="4421124" y="1690236"/>
            <a:ext cx="3328416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10">
            <a:extLst>
              <a:ext uri="{FF2B5EF4-FFF2-40B4-BE49-F238E27FC236}">
                <a16:creationId xmlns:a16="http://schemas.microsoft.com/office/drawing/2014/main" id="{D8155719-4D4D-F321-F51D-FBC29DCA146E}"/>
              </a:ext>
            </a:extLst>
          </p:cNvPr>
          <p:cNvSpPr/>
          <p:nvPr/>
        </p:nvSpPr>
        <p:spPr>
          <a:xfrm>
            <a:off x="4700016" y="1834679"/>
            <a:ext cx="5486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02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77C90A-AF3A-894E-2134-2C1D410DB872}"/>
              </a:ext>
            </a:extLst>
          </p:cNvPr>
          <p:cNvSpPr txBox="1"/>
          <p:nvPr/>
        </p:nvSpPr>
        <p:spPr>
          <a:xfrm>
            <a:off x="5336112" y="1919767"/>
            <a:ext cx="22768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Arial"/>
              </a:defRPr>
            </a:pPr>
            <a:r>
              <a:rPr sz="1400" dirty="0"/>
              <a:t>CUSTOMER VALUE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865803-94A1-1045-00AD-E1AC27A15315}"/>
              </a:ext>
            </a:extLst>
          </p:cNvPr>
          <p:cNvSpPr txBox="1"/>
          <p:nvPr/>
        </p:nvSpPr>
        <p:spPr>
          <a:xfrm>
            <a:off x="4649724" y="2312583"/>
            <a:ext cx="2871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</a:defRPr>
            </a:pPr>
            <a:r>
              <a:rPr dirty="0"/>
              <a:t>PROTECT &amp; GROW 55+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B9A01E-DAB8-984A-2441-7541FEA31B63}"/>
              </a:ext>
            </a:extLst>
          </p:cNvPr>
          <p:cNvSpPr txBox="1"/>
          <p:nvPr/>
        </p:nvSpPr>
        <p:spPr>
          <a:xfrm>
            <a:off x="4608576" y="2632719"/>
            <a:ext cx="2871216" cy="8463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100" b="1" dirty="0"/>
              <a:t>The 55+ segment combines the highest average premium (₹79,635) with the highest expected settlement rate (71.98%). Prioritize retention and value-focused offerings.</a:t>
            </a:r>
          </a:p>
        </p:txBody>
      </p:sp>
      <p:sp>
        <p:nvSpPr>
          <p:cNvPr id="42" name="Rounded Rectangle 14">
            <a:extLst>
              <a:ext uri="{FF2B5EF4-FFF2-40B4-BE49-F238E27FC236}">
                <a16:creationId xmlns:a16="http://schemas.microsoft.com/office/drawing/2014/main" id="{1EBC2566-1853-0DF9-97A0-F23D6D6C33F7}"/>
              </a:ext>
            </a:extLst>
          </p:cNvPr>
          <p:cNvSpPr/>
          <p:nvPr/>
        </p:nvSpPr>
        <p:spPr>
          <a:xfrm>
            <a:off x="8119872" y="1684729"/>
            <a:ext cx="3328416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15">
            <a:extLst>
              <a:ext uri="{FF2B5EF4-FFF2-40B4-BE49-F238E27FC236}">
                <a16:creationId xmlns:a16="http://schemas.microsoft.com/office/drawing/2014/main" id="{07F489D3-682A-10B6-4C1E-FFA6A87E6686}"/>
              </a:ext>
            </a:extLst>
          </p:cNvPr>
          <p:cNvSpPr/>
          <p:nvPr/>
        </p:nvSpPr>
        <p:spPr>
          <a:xfrm>
            <a:off x="8348472" y="1826072"/>
            <a:ext cx="5486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rPr dirty="0"/>
              <a:t>03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261C6A-7C87-24FD-EA41-EFE4E6B967B0}"/>
              </a:ext>
            </a:extLst>
          </p:cNvPr>
          <p:cNvSpPr txBox="1"/>
          <p:nvPr/>
        </p:nvSpPr>
        <p:spPr>
          <a:xfrm>
            <a:off x="8988552" y="1869013"/>
            <a:ext cx="22768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Arial"/>
              </a:defRPr>
            </a:pPr>
            <a:r>
              <a:rPr sz="1400" dirty="0"/>
              <a:t>MARKET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3904FC-3B99-47AF-593E-E4BD2F432ED6}"/>
              </a:ext>
            </a:extLst>
          </p:cNvPr>
          <p:cNvSpPr txBox="1"/>
          <p:nvPr/>
        </p:nvSpPr>
        <p:spPr>
          <a:xfrm>
            <a:off x="8348472" y="2263140"/>
            <a:ext cx="2871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</a:defRPr>
            </a:pPr>
            <a:r>
              <a:rPr dirty="0"/>
              <a:t>DEEPEN CORE MARKETS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7FF137A-DA60-4E2A-BB67-926BE0A39E62}"/>
              </a:ext>
            </a:extLst>
          </p:cNvPr>
          <p:cNvSpPr txBox="1"/>
          <p:nvPr/>
        </p:nvSpPr>
        <p:spPr>
          <a:xfrm>
            <a:off x="8348472" y="2651760"/>
            <a:ext cx="2871216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100" b="1" dirty="0"/>
              <a:t>Continue strengthening Delhi NCR as the leading market while using the 26–35 segment, the largest customer group, to drive acquisition and future growth.</a:t>
            </a:r>
          </a:p>
        </p:txBody>
      </p:sp>
      <p:sp>
        <p:nvSpPr>
          <p:cNvPr id="59" name="Rounded Rectangle 19">
            <a:extLst>
              <a:ext uri="{FF2B5EF4-FFF2-40B4-BE49-F238E27FC236}">
                <a16:creationId xmlns:a16="http://schemas.microsoft.com/office/drawing/2014/main" id="{EDF37FEB-B395-809C-8BD2-6619F113D9C8}"/>
              </a:ext>
            </a:extLst>
          </p:cNvPr>
          <p:cNvSpPr/>
          <p:nvPr/>
        </p:nvSpPr>
        <p:spPr>
          <a:xfrm>
            <a:off x="731520" y="4526280"/>
            <a:ext cx="1072591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B9B216-2573-FD40-34E3-4F9FDC15F8DA}"/>
              </a:ext>
            </a:extLst>
          </p:cNvPr>
          <p:cNvSpPr txBox="1"/>
          <p:nvPr/>
        </p:nvSpPr>
        <p:spPr>
          <a:xfrm>
            <a:off x="722376" y="4572000"/>
            <a:ext cx="10725912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rial"/>
              </a:defRPr>
            </a:pPr>
            <a:r>
              <a:rPr sz="1200" dirty="0"/>
              <a:t>EXPECTED BUSINESS OUTCOMES</a:t>
            </a:r>
          </a:p>
        </p:txBody>
      </p:sp>
      <p:sp>
        <p:nvSpPr>
          <p:cNvPr id="65" name="Rounded Rectangle 21">
            <a:extLst>
              <a:ext uri="{FF2B5EF4-FFF2-40B4-BE49-F238E27FC236}">
                <a16:creationId xmlns:a16="http://schemas.microsoft.com/office/drawing/2014/main" id="{82F15ED7-23B4-6332-F428-A5B65D009301}"/>
              </a:ext>
            </a:extLst>
          </p:cNvPr>
          <p:cNvSpPr/>
          <p:nvPr/>
        </p:nvSpPr>
        <p:spPr>
          <a:xfrm>
            <a:off x="914400" y="4892040"/>
            <a:ext cx="2962656" cy="914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B7F3AB4-5322-DADF-9230-AE7A40225DEB}"/>
              </a:ext>
            </a:extLst>
          </p:cNvPr>
          <p:cNvSpPr txBox="1"/>
          <p:nvPr/>
        </p:nvSpPr>
        <p:spPr>
          <a:xfrm>
            <a:off x="914400" y="5056632"/>
            <a:ext cx="296265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rPr sz="1200" dirty="0"/>
              <a:t>DIGITAL SCALE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D4AF0F-7E39-0C65-E501-AFF293A3F06B}"/>
              </a:ext>
            </a:extLst>
          </p:cNvPr>
          <p:cNvSpPr txBox="1"/>
          <p:nvPr/>
        </p:nvSpPr>
        <p:spPr>
          <a:xfrm>
            <a:off x="914400" y="5349240"/>
            <a:ext cx="296265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rial"/>
              </a:defRPr>
            </a:pPr>
            <a:r>
              <a:rPr sz="1200" dirty="0"/>
              <a:t>↑ Reach   •   ↑ Adoption</a:t>
            </a:r>
          </a:p>
        </p:txBody>
      </p:sp>
      <p:sp>
        <p:nvSpPr>
          <p:cNvPr id="73" name="Rounded Rectangle 24">
            <a:extLst>
              <a:ext uri="{FF2B5EF4-FFF2-40B4-BE49-F238E27FC236}">
                <a16:creationId xmlns:a16="http://schemas.microsoft.com/office/drawing/2014/main" id="{8E9E4F61-CE23-8FFA-465C-A0D0F1F75B4D}"/>
              </a:ext>
            </a:extLst>
          </p:cNvPr>
          <p:cNvSpPr/>
          <p:nvPr/>
        </p:nvSpPr>
        <p:spPr>
          <a:xfrm>
            <a:off x="4608576" y="4892040"/>
            <a:ext cx="2962656" cy="914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FD8FEC7-0BE7-47ED-738A-DDE0A26A18DC}"/>
              </a:ext>
            </a:extLst>
          </p:cNvPr>
          <p:cNvSpPr txBox="1"/>
          <p:nvPr/>
        </p:nvSpPr>
        <p:spPr>
          <a:xfrm>
            <a:off x="4608576" y="5056632"/>
            <a:ext cx="296265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rPr sz="1200" dirty="0"/>
              <a:t>CUSTOMER VALUE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05DF754-0D71-73AB-FD6A-4168CA1B6AD6}"/>
              </a:ext>
            </a:extLst>
          </p:cNvPr>
          <p:cNvSpPr txBox="1"/>
          <p:nvPr/>
        </p:nvSpPr>
        <p:spPr>
          <a:xfrm>
            <a:off x="4608576" y="5349240"/>
            <a:ext cx="296265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rial"/>
              </a:defRPr>
            </a:pPr>
            <a:r>
              <a:rPr sz="1200" dirty="0"/>
              <a:t>↑ Retention   •   ↑ Value</a:t>
            </a: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370E7C18-DEE2-BE94-FBB5-E1171D41EA90}"/>
              </a:ext>
            </a:extLst>
          </p:cNvPr>
          <p:cNvSpPr/>
          <p:nvPr/>
        </p:nvSpPr>
        <p:spPr>
          <a:xfrm>
            <a:off x="8302752" y="4892040"/>
            <a:ext cx="2962656" cy="914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8E03371-F080-B251-7D93-EC5130826C85}"/>
              </a:ext>
            </a:extLst>
          </p:cNvPr>
          <p:cNvSpPr txBox="1"/>
          <p:nvPr/>
        </p:nvSpPr>
        <p:spPr>
          <a:xfrm>
            <a:off x="8302752" y="5056632"/>
            <a:ext cx="296265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rPr sz="1200" dirty="0"/>
              <a:t>MARKET GROWTH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0491C34-1A14-01F7-F819-6717D7F8812E}"/>
              </a:ext>
            </a:extLst>
          </p:cNvPr>
          <p:cNvSpPr txBox="1"/>
          <p:nvPr/>
        </p:nvSpPr>
        <p:spPr>
          <a:xfrm>
            <a:off x="8302752" y="5349240"/>
            <a:ext cx="296265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rial"/>
              </a:defRPr>
            </a:pPr>
            <a:r>
              <a:rPr sz="1200" dirty="0"/>
              <a:t>↑ Penetration   •   ↑ Acquisition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2010498-17B5-2EC4-D429-7CFCE7861B2C}"/>
              </a:ext>
            </a:extLst>
          </p:cNvPr>
          <p:cNvSpPr txBox="1"/>
          <p:nvPr/>
        </p:nvSpPr>
        <p:spPr>
          <a:xfrm>
            <a:off x="731520" y="6217920"/>
            <a:ext cx="10725912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1100" b="1" dirty="0"/>
              <a:t>Data note: Policy preference is represented by policy IDs, while settlement data is available at age level without a time dimension.</a:t>
            </a:r>
          </a:p>
        </p:txBody>
      </p:sp>
    </p:spTree>
    <p:extLst>
      <p:ext uri="{BB962C8B-B14F-4D97-AF65-F5344CB8AC3E}">
        <p14:creationId xmlns:p14="http://schemas.microsoft.com/office/powerpoint/2010/main" val="295784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0337A9-33E5-DB7F-27AD-92797E87995F}"/>
              </a:ext>
            </a:extLst>
          </p:cNvPr>
          <p:cNvSpPr txBox="1"/>
          <p:nvPr/>
        </p:nvSpPr>
        <p:spPr>
          <a:xfrm>
            <a:off x="4147670" y="1037619"/>
            <a:ext cx="45031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0F172A"/>
                </a:solidFill>
                <a:latin typeface="Space Grotesk"/>
              </a:rPr>
              <a:t>SHIELD INSURANCE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EBA2B6-3579-D218-812A-C575A3F1B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207" y="344129"/>
            <a:ext cx="2380952" cy="2380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D924D8-F974-A068-ACCA-FACF7E879ADD}"/>
              </a:ext>
            </a:extLst>
          </p:cNvPr>
          <p:cNvSpPr txBox="1"/>
          <p:nvPr/>
        </p:nvSpPr>
        <p:spPr>
          <a:xfrm>
            <a:off x="731520" y="237744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04D3009F-F26A-8401-5846-0D1E35FA39D4}"/>
              </a:ext>
            </a:extLst>
          </p:cNvPr>
          <p:cNvSpPr/>
          <p:nvPr/>
        </p:nvSpPr>
        <p:spPr>
          <a:xfrm>
            <a:off x="3346704" y="3383280"/>
            <a:ext cx="5486400" cy="502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rPr sz="2000" dirty="0"/>
              <a:t>Data-Driven Insights for Better Decisions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17A3F0-9FD1-B595-2856-D4446D49A8BF}"/>
              </a:ext>
            </a:extLst>
          </p:cNvPr>
          <p:cNvSpPr txBox="1"/>
          <p:nvPr/>
        </p:nvSpPr>
        <p:spPr>
          <a:xfrm>
            <a:off x="731520" y="4480560"/>
            <a:ext cx="1072591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  <a:latin typeface="Arial"/>
              </a:defRPr>
            </a:pPr>
            <a:r>
              <a:rPr sz="2000" dirty="0"/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731048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682</Words>
  <Application>Microsoft Office PowerPoint</Application>
  <PresentationFormat>Widescreen</PresentationFormat>
  <Paragraphs>167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Aptos</vt:lpstr>
      <vt:lpstr>Arial</vt:lpstr>
      <vt:lpstr>Calibri</vt:lpstr>
      <vt:lpstr>Inter Medium</vt:lpstr>
      <vt:lpstr>Plus Jakarta Sans</vt:lpstr>
      <vt:lpstr>Plus Jakarta Sans ExtraBold</vt:lpstr>
      <vt:lpstr>Plus Jakarta Sans SemiBold</vt:lpstr>
      <vt:lpstr>Space Grotesk</vt:lpstr>
      <vt:lpstr>Times New Roman</vt:lpstr>
      <vt:lpstr>Times New Roman ExtraBold</vt:lpstr>
      <vt:lpstr>Times New Roman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msi1</cp:lastModifiedBy>
  <cp:revision>36</cp:revision>
  <dcterms:created xsi:type="dcterms:W3CDTF">2013-01-27T09:14:16Z</dcterms:created>
  <dcterms:modified xsi:type="dcterms:W3CDTF">2026-08-14T11:26:40Z</dcterms:modified>
  <cp:category/>
</cp:coreProperties>
</file>